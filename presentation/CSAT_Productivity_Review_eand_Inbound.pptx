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1F1F"/>
                </a:solidFill>
                <a:latin typeface="Calibri"/>
              </a:defRPr>
            </a:pPr>
            <a:r>
              <a:rPr lang="en-US" sz="1300" b="0" i="0" u="none" strike="noStrike">
                <a:solidFill>
                  <a:srgbClr val="1F1F1F"/>
                </a:solidFill>
                <a:latin typeface="Calibri"/>
              </a:rPr>
              <a:t>AHT per call: talk + hold (seconds; ACW ≤ 5s omitted)</a:t>
            </a:r>
          </a:p>
        </c:rich>
      </c:tx>
      <c:overlay val="0"/>
    </c:title>
    <c:autoTitleDeleted val="0"/>
    <c:plotArea>
      <c:layout/>
      <c:barChart>
        <c:barDir val="col"/>
        <c:grouping val="stacked"/>
        <c:varyColors val="0"/>
        <c:ser>
          <c:idx val="0"/>
          <c:order val="0"/>
          <c:tx>
            <c:strRef>
              <c:f>Sheet1!$B$1</c:f>
              <c:strCache>
                <c:ptCount val="1"/>
                <c:pt idx="0">
                  <c:v>Talk</c:v>
                </c:pt>
              </c:strCache>
            </c:strRef>
          </c:tx>
          <c:spPr>
            <a:solidFill>
              <a:srgbClr val="3C3C3B"/>
            </a:solidFill>
            <a:effectLst/>
          </c:spPr>
          <c:invertIfNegative val="0"/>
          <c:dLbls>
            <c:numFmt formatCode="#,##0" sourceLinked="0"/>
            <c:spPr>
              <a:noFill/>
              <a:ln>
                <a:noFill/>
              </a:ln>
              <a:effectLst/>
            </c:spPr>
            <c:txPr>
              <a:bodyPr/>
              <a:lstStyle/>
              <a:p>
                <a:pPr>
                  <a:defRPr sz="10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May</c:v>
                </c:pt>
                <c:pt idx="1">
                  <c:v>Jun</c:v>
                </c:pt>
                <c:pt idx="2">
                  <c:v>Jul</c:v>
                </c:pt>
              </c:strCache>
            </c:strRef>
          </c:cat>
          <c:val>
            <c:numRef>
              <c:f>Sheet1!$B$2:$B$4</c:f>
              <c:numCache>
                <c:formatCode>General</c:formatCode>
                <c:ptCount val="3"/>
                <c:pt idx="0">
                  <c:v>395</c:v>
                </c:pt>
                <c:pt idx="1">
                  <c:v>447</c:v>
                </c:pt>
                <c:pt idx="2">
                  <c:v>461</c:v>
                </c:pt>
              </c:numCache>
            </c:numRef>
          </c:val>
          <c:extLst>
            <c:ext xmlns:c16="http://schemas.microsoft.com/office/drawing/2014/chart" uri="{C3380CC4-5D6E-409C-BE32-E72D297353CC}">
              <c16:uniqueId val="{00000000-E38A-4E9C-B002-4BFDDC41D5A7}"/>
            </c:ext>
          </c:extLst>
        </c:ser>
        <c:ser>
          <c:idx val="1"/>
          <c:order val="1"/>
          <c:tx>
            <c:strRef>
              <c:f>Sheet1!$C$1</c:f>
              <c:strCache>
                <c:ptCount val="1"/>
                <c:pt idx="0">
                  <c:v>Hold</c:v>
                </c:pt>
              </c:strCache>
            </c:strRef>
          </c:tx>
          <c:spPr>
            <a:solidFill>
              <a:srgbClr val="E00800"/>
            </a:solidFill>
            <a:effectLst/>
          </c:spPr>
          <c:invertIfNegative val="0"/>
          <c:dLbls>
            <c:numFmt formatCode="#,##0" sourceLinked="0"/>
            <c:spPr>
              <a:noFill/>
              <a:ln>
                <a:noFill/>
              </a:ln>
              <a:effectLst/>
            </c:spPr>
            <c:txPr>
              <a:bodyPr/>
              <a:lstStyle/>
              <a:p>
                <a:pPr>
                  <a:defRPr sz="10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May</c:v>
                </c:pt>
                <c:pt idx="1">
                  <c:v>Jun</c:v>
                </c:pt>
                <c:pt idx="2">
                  <c:v>Jul</c:v>
                </c:pt>
              </c:strCache>
            </c:strRef>
          </c:cat>
          <c:val>
            <c:numRef>
              <c:f>Sheet1!$C$2:$C$4</c:f>
              <c:numCache>
                <c:formatCode>General</c:formatCode>
                <c:ptCount val="3"/>
                <c:pt idx="0">
                  <c:v>30</c:v>
                </c:pt>
                <c:pt idx="1">
                  <c:v>40</c:v>
                </c:pt>
                <c:pt idx="2">
                  <c:v>44</c:v>
                </c:pt>
              </c:numCache>
            </c:numRef>
          </c:val>
          <c:extLst>
            <c:ext xmlns:c16="http://schemas.microsoft.com/office/drawing/2014/chart" uri="{C3380CC4-5D6E-409C-BE32-E72D297353CC}">
              <c16:uniqueId val="{00000001-E38A-4E9C-B002-4BFDDC41D5A7}"/>
            </c:ext>
          </c:extLst>
        </c:ser>
        <c:dLbls>
          <c:dLblPos val="ctr"/>
          <c:showLegendKey val="0"/>
          <c:showVal val="1"/>
          <c:showCatName val="0"/>
          <c:showSerName val="0"/>
          <c:showPercent val="0"/>
          <c:showBubbleSize val="0"/>
        </c:dLbls>
        <c:gapWidth val="6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ax val="550"/>
          <c:min val="0"/>
        </c:scaling>
        <c:delete val="0"/>
        <c:axPos val="l"/>
        <c:majorGridlines>
          <c:spPr>
            <a:ln w="6350" cap="flat">
              <a:solidFill>
                <a:srgbClr val="EDED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B7280"/>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1F1F"/>
                </a:solidFill>
                <a:latin typeface="Calibri"/>
              </a:defRPr>
            </a:pPr>
            <a:r>
              <a:rPr lang="en-US" sz="1300" b="0" i="0" u="none" strike="noStrike">
                <a:solidFill>
                  <a:srgbClr val="1F1F1F"/>
                </a:solidFill>
                <a:latin typeface="Calibri"/>
              </a:rPr>
              <a:t>Weekly Avg CSAT (week commencing)</a:t>
            </a:r>
          </a:p>
        </c:rich>
      </c:tx>
      <c:overlay val="0"/>
    </c:title>
    <c:autoTitleDeleted val="0"/>
    <c:plotArea>
      <c:layout/>
      <c:lineChart>
        <c:grouping val="standard"/>
        <c:varyColors val="0"/>
        <c:ser>
          <c:idx val="0"/>
          <c:order val="0"/>
          <c:tx>
            <c:strRef>
              <c:f>Sheet1!$B$1</c:f>
              <c:strCache>
                <c:ptCount val="1"/>
                <c:pt idx="0">
                  <c:v>Avg CSAT</c:v>
                </c:pt>
              </c:strCache>
            </c:strRef>
          </c:tx>
          <c:spPr>
            <a:ln w="31750" cap="flat">
              <a:solidFill>
                <a:srgbClr val="E00800"/>
              </a:solidFill>
              <a:prstDash val="solid"/>
              <a:round/>
            </a:ln>
            <a:effectLst/>
          </c:spPr>
          <c:marker>
            <c:symbol val="circle"/>
            <c:size val="6"/>
            <c:spPr>
              <a:solidFill>
                <a:srgbClr val="E00800"/>
              </a:solidFill>
              <a:ln w="9525" cap="flat">
                <a:solidFill>
                  <a:srgbClr val="E00800"/>
                </a:solidFill>
                <a:prstDash val="solid"/>
                <a:round/>
              </a:ln>
              <a:effectLst/>
            </c:spPr>
          </c:marker>
          <c:cat>
            <c:strRef>
              <c:f>Sheet1!$A$2:$A$15</c:f>
              <c:strCache>
                <c:ptCount val="14"/>
                <c:pt idx="0">
                  <c:v>26 Apr</c:v>
                </c:pt>
                <c:pt idx="1">
                  <c:v>3 May</c:v>
                </c:pt>
                <c:pt idx="2">
                  <c:v>10 May</c:v>
                </c:pt>
                <c:pt idx="3">
                  <c:v>17 May</c:v>
                </c:pt>
                <c:pt idx="4">
                  <c:v>24 May</c:v>
                </c:pt>
                <c:pt idx="5">
                  <c:v>31 May</c:v>
                </c:pt>
                <c:pt idx="6">
                  <c:v>7 Jun</c:v>
                </c:pt>
                <c:pt idx="7">
                  <c:v>14 Jun</c:v>
                </c:pt>
                <c:pt idx="8">
                  <c:v>21 Jun</c:v>
                </c:pt>
                <c:pt idx="9">
                  <c:v>28 Jun</c:v>
                </c:pt>
                <c:pt idx="10">
                  <c:v>5 Jul</c:v>
                </c:pt>
                <c:pt idx="11">
                  <c:v>12 Jul</c:v>
                </c:pt>
                <c:pt idx="12">
                  <c:v>19 Jul</c:v>
                </c:pt>
                <c:pt idx="13">
                  <c:v>26 Jul</c:v>
                </c:pt>
              </c:strCache>
            </c:strRef>
          </c:cat>
          <c:val>
            <c:numRef>
              <c:f>Sheet1!$B$2:$B$15</c:f>
              <c:numCache>
                <c:formatCode>General</c:formatCode>
                <c:ptCount val="14"/>
                <c:pt idx="0">
                  <c:v>3.78</c:v>
                </c:pt>
                <c:pt idx="1">
                  <c:v>4.17</c:v>
                </c:pt>
                <c:pt idx="2">
                  <c:v>4.12</c:v>
                </c:pt>
                <c:pt idx="3">
                  <c:v>4.01</c:v>
                </c:pt>
                <c:pt idx="4">
                  <c:v>3.95</c:v>
                </c:pt>
                <c:pt idx="5">
                  <c:v>4.1900000000000004</c:v>
                </c:pt>
                <c:pt idx="6">
                  <c:v>4.0199999999999996</c:v>
                </c:pt>
                <c:pt idx="7">
                  <c:v>3.87</c:v>
                </c:pt>
                <c:pt idx="8">
                  <c:v>4.05</c:v>
                </c:pt>
                <c:pt idx="9">
                  <c:v>3.85</c:v>
                </c:pt>
                <c:pt idx="10">
                  <c:v>4.04</c:v>
                </c:pt>
                <c:pt idx="11">
                  <c:v>4.09</c:v>
                </c:pt>
                <c:pt idx="12">
                  <c:v>3.94</c:v>
                </c:pt>
                <c:pt idx="13">
                  <c:v>3.97</c:v>
                </c:pt>
              </c:numCache>
            </c:numRef>
          </c:val>
          <c:smooth val="0"/>
          <c:extLst>
            <c:ext xmlns:c16="http://schemas.microsoft.com/office/drawing/2014/chart" uri="{C3380CC4-5D6E-409C-BE32-E72D297353CC}">
              <c16:uniqueId val="{00000000-781A-40C6-B270-81CF44A612F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ax val="4.3"/>
          <c:min val="3.6"/>
        </c:scaling>
        <c:delete val="0"/>
        <c:axPos val="l"/>
        <c:majorGridlines>
          <c:spPr>
            <a:ln w="6350" cap="flat">
              <a:solidFill>
                <a:srgbClr val="EDEDED"/>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of surveys</c:v>
                </c:pt>
              </c:strCache>
            </c:strRef>
          </c:tx>
          <c:spPr>
            <a:solidFill>
              <a:srgbClr val="E00800"/>
            </a:solidFill>
            <a:effectLst/>
          </c:spPr>
          <c:invertIfNegative val="0"/>
          <c:dPt>
            <c:idx val="0"/>
            <c:invertIfNegative val="0"/>
            <c:bubble3D val="0"/>
            <c:extLst>
              <c:ext xmlns:c16="http://schemas.microsoft.com/office/drawing/2014/chart" uri="{C3380CC4-5D6E-409C-BE32-E72D297353CC}">
                <c16:uniqueId val="{00000001-AF9F-4D0C-82EA-205FD1CB56A3}"/>
              </c:ext>
            </c:extLst>
          </c:dPt>
          <c:dPt>
            <c:idx val="1"/>
            <c:invertIfNegative val="0"/>
            <c:bubble3D val="0"/>
            <c:spPr>
              <a:solidFill>
                <a:srgbClr val="F28C87"/>
              </a:solidFill>
              <a:effectLst/>
            </c:spPr>
            <c:extLst>
              <c:ext xmlns:c16="http://schemas.microsoft.com/office/drawing/2014/chart" uri="{C3380CC4-5D6E-409C-BE32-E72D297353CC}">
                <c16:uniqueId val="{00000003-AF9F-4D0C-82EA-205FD1CB56A3}"/>
              </c:ext>
            </c:extLst>
          </c:dPt>
          <c:dPt>
            <c:idx val="2"/>
            <c:invertIfNegative val="0"/>
            <c:bubble3D val="0"/>
            <c:spPr>
              <a:solidFill>
                <a:srgbClr val="BFC5CC"/>
              </a:solidFill>
              <a:effectLst/>
            </c:spPr>
            <c:extLst>
              <c:ext xmlns:c16="http://schemas.microsoft.com/office/drawing/2014/chart" uri="{C3380CC4-5D6E-409C-BE32-E72D297353CC}">
                <c16:uniqueId val="{00000005-AF9F-4D0C-82EA-205FD1CB56A3}"/>
              </c:ext>
            </c:extLst>
          </c:dPt>
          <c:dPt>
            <c:idx val="3"/>
            <c:invertIfNegative val="0"/>
            <c:bubble3D val="0"/>
            <c:spPr>
              <a:solidFill>
                <a:srgbClr val="8C8C8C"/>
              </a:solidFill>
              <a:effectLst/>
            </c:spPr>
            <c:extLst>
              <c:ext xmlns:c16="http://schemas.microsoft.com/office/drawing/2014/chart" uri="{C3380CC4-5D6E-409C-BE32-E72D297353CC}">
                <c16:uniqueId val="{00000007-AF9F-4D0C-82EA-205FD1CB56A3}"/>
              </c:ext>
            </c:extLst>
          </c:dPt>
          <c:dPt>
            <c:idx val="4"/>
            <c:invertIfNegative val="0"/>
            <c:bubble3D val="0"/>
            <c:spPr>
              <a:solidFill>
                <a:srgbClr val="3C3C3B"/>
              </a:solidFill>
              <a:effectLst/>
            </c:spPr>
            <c:extLst>
              <c:ext xmlns:c16="http://schemas.microsoft.com/office/drawing/2014/chart" uri="{C3380CC4-5D6E-409C-BE32-E72D297353CC}">
                <c16:uniqueId val="{00000009-AF9F-4D0C-82EA-205FD1CB56A3}"/>
              </c:ext>
            </c:extLst>
          </c:dPt>
          <c:dLbls>
            <c:numFmt formatCode="0.0%" sourceLinked="0"/>
            <c:spPr>
              <a:noFill/>
              <a:ln>
                <a:noFill/>
              </a:ln>
              <a:effectLst/>
            </c:spPr>
            <c:txPr>
              <a:bodyPr/>
              <a:lstStyle/>
              <a:p>
                <a:pPr>
                  <a:defRPr sz="1200" b="0" i="0" u="none" strike="noStrike">
                    <a:solidFill>
                      <a:srgbClr val="1F1F1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 Poor</c:v>
                </c:pt>
                <c:pt idx="1">
                  <c:v>2</c:v>
                </c:pt>
                <c:pt idx="2">
                  <c:v>3</c:v>
                </c:pt>
                <c:pt idx="3">
                  <c:v>4</c:v>
                </c:pt>
                <c:pt idx="4">
                  <c:v>5 - Excellent</c:v>
                </c:pt>
              </c:strCache>
            </c:strRef>
          </c:cat>
          <c:val>
            <c:numRef>
              <c:f>Sheet1!$B$2:$B$6</c:f>
              <c:numCache>
                <c:formatCode>General</c:formatCode>
                <c:ptCount val="5"/>
                <c:pt idx="0">
                  <c:v>0.18099999999999999</c:v>
                </c:pt>
                <c:pt idx="1">
                  <c:v>2.5999999999999999E-2</c:v>
                </c:pt>
                <c:pt idx="2">
                  <c:v>3.5000000000000003E-2</c:v>
                </c:pt>
                <c:pt idx="3">
                  <c:v>0.113</c:v>
                </c:pt>
                <c:pt idx="4">
                  <c:v>0.64400000000000002</c:v>
                </c:pt>
              </c:numCache>
            </c:numRef>
          </c:val>
          <c:extLst>
            <c:ext xmlns:c16="http://schemas.microsoft.com/office/drawing/2014/chart" uri="{C3380CC4-5D6E-409C-BE32-E72D297353CC}">
              <c16:uniqueId val="{0000000A-AF9F-4D0C-82EA-205FD1CB56A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ax val="0.75"/>
          <c:min val="0"/>
        </c:scaling>
        <c:delete val="0"/>
        <c:axPos val="l"/>
        <c:majorGridlines>
          <c:spPr>
            <a:ln w="6350" cap="flat">
              <a:solidFill>
                <a:srgbClr val="EDEDE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Talk</c:v>
                </c:pt>
              </c:strCache>
            </c:strRef>
          </c:tx>
          <c:spPr>
            <a:solidFill>
              <a:srgbClr val="3C3C3B"/>
            </a:solidFill>
            <a:effectLst/>
          </c:spPr>
          <c:invertIfNegative val="0"/>
          <c:dLbls>
            <c:numFmt formatCode="#,##0" sourceLinked="0"/>
            <c:spPr>
              <a:noFill/>
              <a:ln>
                <a:noFill/>
              </a:ln>
              <a:effectLst/>
            </c:spPr>
            <c:txPr>
              <a:bodyPr/>
              <a:lstStyle/>
              <a:p>
                <a:pPr>
                  <a:defRPr sz="11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Supervisor 1</c:v>
                </c:pt>
                <c:pt idx="1">
                  <c:v>Supervisor 2</c:v>
                </c:pt>
                <c:pt idx="2">
                  <c:v>Supervisor 3</c:v>
                </c:pt>
              </c:strCache>
            </c:strRef>
          </c:cat>
          <c:val>
            <c:numRef>
              <c:f>Sheet1!$B$2:$B$4</c:f>
              <c:numCache>
                <c:formatCode>General</c:formatCode>
                <c:ptCount val="3"/>
                <c:pt idx="0">
                  <c:v>377</c:v>
                </c:pt>
                <c:pt idx="1">
                  <c:v>429</c:v>
                </c:pt>
                <c:pt idx="2">
                  <c:v>522</c:v>
                </c:pt>
              </c:numCache>
            </c:numRef>
          </c:val>
          <c:extLst>
            <c:ext xmlns:c16="http://schemas.microsoft.com/office/drawing/2014/chart" uri="{C3380CC4-5D6E-409C-BE32-E72D297353CC}">
              <c16:uniqueId val="{00000000-11B6-4103-9271-24A444C346EA}"/>
            </c:ext>
          </c:extLst>
        </c:ser>
        <c:ser>
          <c:idx val="1"/>
          <c:order val="1"/>
          <c:tx>
            <c:strRef>
              <c:f>Sheet1!$C$1</c:f>
              <c:strCache>
                <c:ptCount val="1"/>
                <c:pt idx="0">
                  <c:v>Hold</c:v>
                </c:pt>
              </c:strCache>
            </c:strRef>
          </c:tx>
          <c:spPr>
            <a:solidFill>
              <a:srgbClr val="E00800"/>
            </a:solidFill>
            <a:effectLst/>
          </c:spPr>
          <c:invertIfNegative val="0"/>
          <c:dLbls>
            <c:numFmt formatCode="#,##0" sourceLinked="0"/>
            <c:spPr>
              <a:noFill/>
              <a:ln>
                <a:noFill/>
              </a:ln>
              <a:effectLst/>
            </c:spPr>
            <c:txPr>
              <a:bodyPr/>
              <a:lstStyle/>
              <a:p>
                <a:pPr>
                  <a:defRPr sz="11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Supervisor 1</c:v>
                </c:pt>
                <c:pt idx="1">
                  <c:v>Supervisor 2</c:v>
                </c:pt>
                <c:pt idx="2">
                  <c:v>Supervisor 3</c:v>
                </c:pt>
              </c:strCache>
            </c:strRef>
          </c:cat>
          <c:val>
            <c:numRef>
              <c:f>Sheet1!$C$2:$C$4</c:f>
              <c:numCache>
                <c:formatCode>General</c:formatCode>
                <c:ptCount val="3"/>
                <c:pt idx="0">
                  <c:v>21</c:v>
                </c:pt>
                <c:pt idx="1">
                  <c:v>27</c:v>
                </c:pt>
                <c:pt idx="2">
                  <c:v>71</c:v>
                </c:pt>
              </c:numCache>
            </c:numRef>
          </c:val>
          <c:extLst>
            <c:ext xmlns:c16="http://schemas.microsoft.com/office/drawing/2014/chart" uri="{C3380CC4-5D6E-409C-BE32-E72D297353CC}">
              <c16:uniqueId val="{00000001-11B6-4103-9271-24A444C346EA}"/>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ax val="650"/>
          <c:min val="0"/>
        </c:scaling>
        <c:delete val="0"/>
        <c:axPos val="t"/>
        <c:majorGridlines>
          <c:spPr>
            <a:ln w="6350" cap="flat">
              <a:solidFill>
                <a:srgbClr val="EDEDED"/>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B7280"/>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WFH</c:v>
                </c:pt>
              </c:strCache>
            </c:strRef>
          </c:tx>
          <c:spPr>
            <a:solidFill>
              <a:srgbClr val="3C3C3B"/>
            </a:solidFill>
            <a:effectLst/>
          </c:spPr>
          <c:invertIfNegative val="0"/>
          <c:dLbls>
            <c:numFmt formatCode="#,##0" sourceLinked="0"/>
            <c:spPr>
              <a:noFill/>
              <a:ln>
                <a:noFill/>
              </a:ln>
              <a:effectLst/>
            </c:spPr>
            <c:txPr>
              <a:bodyPr/>
              <a:lstStyle/>
              <a:p>
                <a:pPr>
                  <a:defRPr sz="1300" b="0" i="0" u="none" strike="noStrike">
                    <a:solidFill>
                      <a:srgbClr val="1F1F1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Mobile</c:v>
                </c:pt>
                <c:pt idx="1">
                  <c:v>TV</c:v>
                </c:pt>
              </c:strCache>
            </c:strRef>
          </c:cat>
          <c:val>
            <c:numRef>
              <c:f>Sheet1!$B$2:$B$3</c:f>
              <c:numCache>
                <c:formatCode>General</c:formatCode>
                <c:ptCount val="2"/>
                <c:pt idx="0">
                  <c:v>373</c:v>
                </c:pt>
                <c:pt idx="1">
                  <c:v>434</c:v>
                </c:pt>
              </c:numCache>
            </c:numRef>
          </c:val>
          <c:extLst>
            <c:ext xmlns:c16="http://schemas.microsoft.com/office/drawing/2014/chart" uri="{C3380CC4-5D6E-409C-BE32-E72D297353CC}">
              <c16:uniqueId val="{00000000-2F98-4843-B427-A3C110DE89A7}"/>
            </c:ext>
          </c:extLst>
        </c:ser>
        <c:ser>
          <c:idx val="1"/>
          <c:order val="1"/>
          <c:tx>
            <c:strRef>
              <c:f>Sheet1!$C$1</c:f>
              <c:strCache>
                <c:ptCount val="1"/>
                <c:pt idx="0">
                  <c:v>WFO</c:v>
                </c:pt>
              </c:strCache>
            </c:strRef>
          </c:tx>
          <c:spPr>
            <a:solidFill>
              <a:srgbClr val="E00800"/>
            </a:solidFill>
            <a:effectLst/>
          </c:spPr>
          <c:invertIfNegative val="0"/>
          <c:dLbls>
            <c:numFmt formatCode="#,##0" sourceLinked="0"/>
            <c:spPr>
              <a:noFill/>
              <a:ln>
                <a:noFill/>
              </a:ln>
              <a:effectLst/>
            </c:spPr>
            <c:txPr>
              <a:bodyPr/>
              <a:lstStyle/>
              <a:p>
                <a:pPr>
                  <a:defRPr sz="1300" b="0" i="0" u="none" strike="noStrike">
                    <a:solidFill>
                      <a:srgbClr val="1F1F1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Mobile</c:v>
                </c:pt>
                <c:pt idx="1">
                  <c:v>TV</c:v>
                </c:pt>
              </c:strCache>
            </c:strRef>
          </c:cat>
          <c:val>
            <c:numRef>
              <c:f>Sheet1!$C$2:$C$3</c:f>
              <c:numCache>
                <c:formatCode>General</c:formatCode>
                <c:ptCount val="2"/>
                <c:pt idx="0">
                  <c:v>508</c:v>
                </c:pt>
                <c:pt idx="1">
                  <c:v>518</c:v>
                </c:pt>
              </c:numCache>
            </c:numRef>
          </c:val>
          <c:extLst>
            <c:ext xmlns:c16="http://schemas.microsoft.com/office/drawing/2014/chart" uri="{C3380CC4-5D6E-409C-BE32-E72D297353CC}">
              <c16:uniqueId val="{00000001-2F98-4843-B427-A3C110DE89A7}"/>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ax val="600"/>
        </c:scaling>
        <c:delete val="0"/>
        <c:axPos val="l"/>
        <c:majorGridlines>
          <c:spPr>
            <a:ln w="6350" cap="flat">
              <a:solidFill>
                <a:srgbClr val="EDED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6B7280"/>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0147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summarise what the CSAT and productivity dashboard shows for the e&amp; inbound account over May-July 2021, what is driving it, and what I recommend. Scope = agents on the monthly Active List.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story: satisfaction is holding around 4.0, but handle time is rising and a single supervisor group explains a large share of both the CSAT and AHT gap. WFH is a positive outlier worth studying.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modelling best practice: staging queries are connection-only, dimensions and facts load to the Data Model, measures live in a dedicated _Measures table, and AHT is always calculated as a ratio of sums, never an average of daily AHT. Every data-quality treatment is listed live on the Data Notes sheet.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pick July on the timeline (the KPI cards then show month-on-month change), filter Supervisor 3, switch the trend view to Daily, then open Agent View to see the coaching quadrant for that team.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AHT increase is broad-based: Mobile 424 → 501s, TV 442 → 521s. Hold per call grew 45% (30 → 44s), which usually points to knowledge or tool issues rather than agent effort. The first week (26 Apr) only contains 1-2 May, so it is a partial week.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Maths for the lift: 1,254 one-scores; moving 627 of them to 4 adds 627 × 3 / 6,914 = +0.27. Courtesy was asked on 1,105 surveys and knowledge on 991; nulls are excluded, not counted as zero.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Hours saving: (71 - 25) s × 154,323 calls / 3,600 = 1,972 hours over the three months. 18 Team Leaders appear under Supervisor 3 across the three months, including several small or new teams (TL 11, 15, 16, 20-23), which also suggests a newer-agent effect worth checking against tenure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dashboard, TL ranking only shows Team Leaders with 20+ surveys, to avoid small samples (e.g. 'Unassigned' has 3 surveys at 5.0). This slide uses a stricter 100+ survey threshold.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mostly talk (374 vs 461s) and hold (19 vs 46s). If tenure data confirms a like-for-like advantage, expanding WFH eligibility is a low-cost productivity lever; either way, WFH practices on hold usage (e.g. knowledge base access) are worth copying on the floor.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Quadrant thresholds are the account averages for the full period. Agents with fewer than 10 surveys are excluded to avoid noise. On the dashboard the dashed reference lines move with the filters.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open question for the business is the 43% of calls from agents not on the Active List: either the roster is incomplete or the productivity extract includes other accounts sharing the same splits. Either way it should be confirmed with WFM before these KPIs are used for targets.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indicative starting points to agree with operations. All of them can be tracked on the existing dashboard: refresh with new monthly data (Data → Refresh All) and the KPI cards show month-on-month change when a single month is selected.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a:effectLst/>
      </p:bgPr>
    </p:bg>
    <p:spTree>
      <p:nvGrpSpPr>
        <p:cNvPr id="1" name=""/>
        <p:cNvGrpSpPr/>
        <p:nvPr/>
      </p:nvGrpSpPr>
      <p:grpSpPr>
        <a:xfrm>
          <a:off x="0" y="0"/>
          <a:ext cx="0" cy="0"/>
          <a:chOff x="0" y="0"/>
          <a:chExt cx="0" cy="0"/>
        </a:xfrm>
      </p:grpSpPr>
      <p:sp>
        <p:nvSpPr>
          <p:cNvPr id="2" name="Shape 0"/>
          <p:cNvSpPr/>
          <p:nvPr/>
        </p:nvSpPr>
        <p:spPr>
          <a:xfrm>
            <a:off x="548640" y="640080"/>
            <a:ext cx="822960" cy="777240"/>
          </a:xfrm>
          <a:prstGeom prst="roundRect">
            <a:avLst>
              <a:gd name="adj" fmla="val 14118"/>
            </a:avLst>
          </a:prstGeom>
          <a:solidFill>
            <a:srgbClr val="E00800"/>
          </a:solidFill>
          <a:ln/>
        </p:spPr>
      </p:sp>
      <p:sp>
        <p:nvSpPr>
          <p:cNvPr id="3" name="Text 1"/>
          <p:cNvSpPr txBox="1"/>
          <p:nvPr/>
        </p:nvSpPr>
        <p:spPr>
          <a:xfrm>
            <a:off x="548640" y="640080"/>
            <a:ext cx="82296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e&amp;</a:t>
            </a:r>
            <a:endParaRPr lang="en-US" sz="2800" dirty="0"/>
          </a:p>
        </p:txBody>
      </p:sp>
      <p:sp>
        <p:nvSpPr>
          <p:cNvPr id="4" name="Text 2"/>
          <p:cNvSpPr txBox="1"/>
          <p:nvPr/>
        </p:nvSpPr>
        <p:spPr>
          <a:xfrm>
            <a:off x="548640" y="2148840"/>
            <a:ext cx="100584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CSAT &amp; Productivity Review</a:t>
            </a:r>
            <a:endParaRPr lang="en-US" sz="4800" dirty="0"/>
          </a:p>
        </p:txBody>
      </p:sp>
      <p:sp>
        <p:nvSpPr>
          <p:cNvPr id="5" name="Text 3"/>
          <p:cNvSpPr txBox="1"/>
          <p:nvPr/>
        </p:nvSpPr>
        <p:spPr>
          <a:xfrm>
            <a:off x="548640" y="3063240"/>
            <a:ext cx="10058400" cy="457200"/>
          </a:xfrm>
          <a:prstGeom prst="rect">
            <a:avLst/>
          </a:prstGeom>
          <a:noFill/>
          <a:ln/>
        </p:spPr>
        <p:txBody>
          <a:bodyPr wrap="square" lIns="0" tIns="0" rIns="0" bIns="0" rtlCol="0" anchor="ctr"/>
          <a:lstStyle/>
          <a:p>
            <a:pPr marL="0" indent="0">
              <a:buNone/>
            </a:pPr>
            <a:r>
              <a:rPr lang="en-US" sz="2000" dirty="0">
                <a:solidFill>
                  <a:srgbClr val="D1D5DB"/>
                </a:solidFill>
                <a:latin typeface="Calibri" pitchFamily="34" charset="0"/>
                <a:ea typeface="Calibri" pitchFamily="34" charset="-122"/>
                <a:cs typeface="Calibri" pitchFamily="34" charset="-120"/>
              </a:rPr>
              <a:t>e&amp; (Etisalat) Inbound  ·  Mobile &amp; TV  ·  May – July 2021</a:t>
            </a:r>
            <a:endParaRPr lang="en-US" sz="2000" dirty="0"/>
          </a:p>
        </p:txBody>
      </p:sp>
      <p:sp>
        <p:nvSpPr>
          <p:cNvPr id="7" name="Text 5"/>
          <p:cNvSpPr txBox="1"/>
          <p:nvPr/>
        </p:nvSpPr>
        <p:spPr>
          <a:xfrm>
            <a:off x="548640" y="4754880"/>
            <a:ext cx="246888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4.01</a:t>
            </a:r>
            <a:endParaRPr lang="en-US" sz="3000" dirty="0"/>
          </a:p>
        </p:txBody>
      </p:sp>
      <p:sp>
        <p:nvSpPr>
          <p:cNvPr id="8" name="Text 6"/>
          <p:cNvSpPr txBox="1"/>
          <p:nvPr/>
        </p:nvSpPr>
        <p:spPr>
          <a:xfrm>
            <a:off x="548640" y="5303520"/>
            <a:ext cx="2468880" cy="274320"/>
          </a:xfrm>
          <a:prstGeom prst="rect">
            <a:avLst/>
          </a:prstGeom>
          <a:noFill/>
          <a:ln/>
        </p:spPr>
        <p:txBody>
          <a:bodyPr wrap="square" lIns="0" tIns="0" rIns="0" bIns="0" rtlCol="0" anchor="ctr"/>
          <a:lstStyle/>
          <a:p>
            <a:pPr marL="0" indent="0">
              <a:buNone/>
            </a:pPr>
            <a:r>
              <a:rPr lang="en-US" sz="1200" dirty="0">
                <a:solidFill>
                  <a:srgbClr val="A6A6A6"/>
                </a:solidFill>
                <a:latin typeface="Calibri" pitchFamily="34" charset="0"/>
                <a:ea typeface="Calibri" pitchFamily="34" charset="-122"/>
                <a:cs typeface="Calibri" pitchFamily="34" charset="-120"/>
              </a:rPr>
              <a:t>Avg CSAT</a:t>
            </a:r>
            <a:endParaRPr lang="en-US" sz="1200" dirty="0"/>
          </a:p>
        </p:txBody>
      </p:sp>
      <p:sp>
        <p:nvSpPr>
          <p:cNvPr id="9" name="Text 7"/>
          <p:cNvSpPr txBox="1"/>
          <p:nvPr/>
        </p:nvSpPr>
        <p:spPr>
          <a:xfrm>
            <a:off x="3200400" y="4754880"/>
            <a:ext cx="246888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75.7%</a:t>
            </a:r>
            <a:endParaRPr lang="en-US" sz="3000" dirty="0"/>
          </a:p>
        </p:txBody>
      </p:sp>
      <p:sp>
        <p:nvSpPr>
          <p:cNvPr id="10" name="Text 8"/>
          <p:cNvSpPr txBox="1"/>
          <p:nvPr/>
        </p:nvSpPr>
        <p:spPr>
          <a:xfrm>
            <a:off x="3200400" y="5303520"/>
            <a:ext cx="2468880" cy="274320"/>
          </a:xfrm>
          <a:prstGeom prst="rect">
            <a:avLst/>
          </a:prstGeom>
          <a:noFill/>
          <a:ln/>
        </p:spPr>
        <p:txBody>
          <a:bodyPr wrap="square" lIns="0" tIns="0" rIns="0" bIns="0" rtlCol="0" anchor="ctr"/>
          <a:lstStyle/>
          <a:p>
            <a:pPr marL="0" indent="0">
              <a:buNone/>
            </a:pPr>
            <a:r>
              <a:rPr lang="en-US" sz="1200" dirty="0">
                <a:solidFill>
                  <a:srgbClr val="A6A6A6"/>
                </a:solidFill>
                <a:latin typeface="Calibri" pitchFamily="34" charset="0"/>
                <a:ea typeface="Calibri" pitchFamily="34" charset="-122"/>
                <a:cs typeface="Calibri" pitchFamily="34" charset="-120"/>
              </a:rPr>
              <a:t>CSAT % (4-5)</a:t>
            </a:r>
            <a:endParaRPr lang="en-US" sz="1200" dirty="0"/>
          </a:p>
        </p:txBody>
      </p:sp>
      <p:sp>
        <p:nvSpPr>
          <p:cNvPr id="11" name="Text 9"/>
          <p:cNvSpPr txBox="1"/>
          <p:nvPr/>
        </p:nvSpPr>
        <p:spPr>
          <a:xfrm>
            <a:off x="5852160" y="4754880"/>
            <a:ext cx="2468880" cy="548640"/>
          </a:xfrm>
          <a:prstGeom prst="rect">
            <a:avLst/>
          </a:prstGeom>
          <a:noFill/>
          <a:ln/>
        </p:spPr>
        <p:txBody>
          <a:bodyPr wrap="square" lIns="0" tIns="0" rIns="0" bIns="0" rtlCol="0" anchor="ctr"/>
          <a:lstStyle/>
          <a:p>
            <a:pPr marL="0" indent="0">
              <a:buNone/>
            </a:pPr>
            <a:r>
              <a:rPr lang="en-US" sz="3000" b="1" dirty="0">
                <a:solidFill>
                  <a:srgbClr val="E00800"/>
                </a:solidFill>
                <a:latin typeface="Calibri" pitchFamily="34" charset="0"/>
                <a:ea typeface="Calibri" pitchFamily="34" charset="-122"/>
                <a:cs typeface="Calibri" pitchFamily="34" charset="-120"/>
              </a:rPr>
              <a:t>7:57</a:t>
            </a:r>
            <a:endParaRPr lang="en-US" sz="3000" dirty="0"/>
          </a:p>
        </p:txBody>
      </p:sp>
      <p:sp>
        <p:nvSpPr>
          <p:cNvPr id="12" name="Text 10"/>
          <p:cNvSpPr txBox="1"/>
          <p:nvPr/>
        </p:nvSpPr>
        <p:spPr>
          <a:xfrm>
            <a:off x="5852160" y="5303520"/>
            <a:ext cx="2468880" cy="274320"/>
          </a:xfrm>
          <a:prstGeom prst="rect">
            <a:avLst/>
          </a:prstGeom>
          <a:noFill/>
          <a:ln/>
        </p:spPr>
        <p:txBody>
          <a:bodyPr wrap="square" lIns="0" tIns="0" rIns="0" bIns="0" rtlCol="0" anchor="ctr"/>
          <a:lstStyle/>
          <a:p>
            <a:pPr marL="0" indent="0">
              <a:buNone/>
            </a:pPr>
            <a:r>
              <a:rPr lang="en-US" sz="1200" dirty="0">
                <a:solidFill>
                  <a:srgbClr val="A6A6A6"/>
                </a:solidFill>
                <a:latin typeface="Calibri" pitchFamily="34" charset="0"/>
                <a:ea typeface="Calibri" pitchFamily="34" charset="-122"/>
                <a:cs typeface="Calibri" pitchFamily="34" charset="-120"/>
              </a:rPr>
              <a:t>AHT (mm:ss)</a:t>
            </a:r>
            <a:endParaRPr lang="en-US" sz="1200" dirty="0"/>
          </a:p>
        </p:txBody>
      </p:sp>
      <p:sp>
        <p:nvSpPr>
          <p:cNvPr id="13" name="Text 11"/>
          <p:cNvSpPr txBox="1"/>
          <p:nvPr/>
        </p:nvSpPr>
        <p:spPr>
          <a:xfrm>
            <a:off x="8503920" y="4754880"/>
            <a:ext cx="246888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500,884</a:t>
            </a:r>
            <a:endParaRPr lang="en-US" sz="3000" dirty="0"/>
          </a:p>
        </p:txBody>
      </p:sp>
      <p:sp>
        <p:nvSpPr>
          <p:cNvPr id="14" name="Text 12"/>
          <p:cNvSpPr txBox="1"/>
          <p:nvPr/>
        </p:nvSpPr>
        <p:spPr>
          <a:xfrm>
            <a:off x="8503920" y="5303520"/>
            <a:ext cx="2468880" cy="274320"/>
          </a:xfrm>
          <a:prstGeom prst="rect">
            <a:avLst/>
          </a:prstGeom>
          <a:noFill/>
          <a:ln/>
        </p:spPr>
        <p:txBody>
          <a:bodyPr wrap="square" lIns="0" tIns="0" rIns="0" bIns="0" rtlCol="0" anchor="ctr"/>
          <a:lstStyle/>
          <a:p>
            <a:pPr marL="0" indent="0">
              <a:buNone/>
            </a:pPr>
            <a:r>
              <a:rPr lang="en-US" sz="1200" dirty="0">
                <a:solidFill>
                  <a:srgbClr val="A6A6A6"/>
                </a:solidFill>
                <a:latin typeface="Calibri" pitchFamily="34" charset="0"/>
                <a:ea typeface="Calibri" pitchFamily="34" charset="-122"/>
                <a:cs typeface="Calibri" pitchFamily="34" charset="-120"/>
              </a:rPr>
              <a:t>Answered calls</a:t>
            </a:r>
            <a:endParaRPr lang="en-US" sz="1200" dirty="0"/>
          </a:p>
        </p:txBody>
      </p:sp>
      <p:sp>
        <p:nvSpPr>
          <p:cNvPr id="15" name="Text 13"/>
          <p:cNvSpPr txBox="1"/>
          <p:nvPr/>
        </p:nvSpPr>
        <p:spPr>
          <a:xfrm>
            <a:off x="548640" y="6263640"/>
            <a:ext cx="7315200" cy="274320"/>
          </a:xfrm>
          <a:prstGeom prst="rect">
            <a:avLst/>
          </a:prstGeom>
          <a:noFill/>
          <a:ln/>
        </p:spPr>
        <p:txBody>
          <a:bodyPr wrap="square" lIns="0" tIns="0" rIns="0" bIns="0" rtlCol="0" anchor="ctr"/>
          <a:lstStyle/>
          <a:p>
            <a:pPr marL="0" indent="0">
              <a:buNone/>
            </a:pPr>
            <a:r>
              <a:rPr lang="en-US" sz="1100" dirty="0">
                <a:solidFill>
                  <a:srgbClr val="A6A6A6"/>
                </a:solidFill>
                <a:latin typeface="Calibri" pitchFamily="34" charset="0"/>
                <a:ea typeface="Calibri" pitchFamily="34" charset="-122"/>
                <a:cs typeface="Calibri" pitchFamily="34" charset="-120"/>
              </a:rPr>
              <a:t>MIS Specialist assessment  ·  Omar Moussa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2542032" cy="274320"/>
          </a:xfrm>
          <a:prstGeom prst="roundRect">
            <a:avLst>
              <a:gd name="adj" fmla="val 50000"/>
            </a:avLst>
          </a:prstGeom>
          <a:solidFill>
            <a:srgbClr val="FDE3E1"/>
          </a:solidFill>
          <a:ln/>
        </p:spPr>
      </p:sp>
      <p:sp>
        <p:nvSpPr>
          <p:cNvPr id="3" name="Text 1"/>
          <p:cNvSpPr txBox="1"/>
          <p:nvPr/>
        </p:nvSpPr>
        <p:spPr>
          <a:xfrm>
            <a:off x="548640" y="411480"/>
            <a:ext cx="2542032" cy="274320"/>
          </a:xfrm>
          <a:prstGeom prst="rect">
            <a:avLst/>
          </a:prstGeom>
          <a:noFill/>
          <a:ln/>
        </p:spPr>
        <p:txBody>
          <a:bodyPr wrap="square" lIns="0" tIns="0" rIns="0" bIns="0" rtlCol="0" anchor="ctr"/>
          <a:lstStyle/>
          <a:p>
            <a:pPr marL="0" indent="0" algn="ctr">
              <a:buNone/>
            </a:pPr>
            <a:r>
              <a:rPr lang="en-US" sz="1000" b="1" kern="0" spc="100" dirty="0">
                <a:solidFill>
                  <a:srgbClr val="E00800"/>
                </a:solidFill>
                <a:latin typeface="Calibri" pitchFamily="34" charset="0"/>
                <a:ea typeface="Calibri" pitchFamily="34" charset="-122"/>
                <a:cs typeface="Calibri" pitchFamily="34" charset="-120"/>
              </a:rPr>
              <a:t>EXECUTIVE SUMMARY</a:t>
            </a:r>
            <a:endParaRPr lang="en-US" sz="1000" dirty="0"/>
          </a:p>
        </p:txBody>
      </p:sp>
      <p:sp>
        <p:nvSpPr>
          <p:cNvPr id="4" name="Text 2"/>
          <p:cNvSpPr txBox="1"/>
          <p:nvPr/>
        </p:nvSpPr>
        <p:spPr>
          <a:xfrm>
            <a:off x="548640" y="777240"/>
            <a:ext cx="11094415" cy="685800"/>
          </a:xfrm>
          <a:prstGeom prst="rect">
            <a:avLst/>
          </a:prstGeom>
          <a:noFill/>
          <a:ln/>
        </p:spPr>
        <p:txBody>
          <a:bodyPr wrap="square" lIns="0" tIns="0" rIns="0" bIns="0" rtlCol="0" anchor="t"/>
          <a:lstStyle/>
          <a:p>
            <a:pPr marL="0" indent="0">
              <a:buNone/>
            </a:pPr>
            <a:r>
              <a:rPr lang="en-US" sz="3000" b="1" dirty="0">
                <a:solidFill>
                  <a:srgbClr val="1F1F1F"/>
                </a:solidFill>
                <a:latin typeface="Calibri" pitchFamily="34" charset="0"/>
                <a:ea typeface="Calibri" pitchFamily="34" charset="-122"/>
                <a:cs typeface="Calibri" pitchFamily="34" charset="-120"/>
              </a:rPr>
              <a:t>Customers are satisfied, but handling time is drifting up</a:t>
            </a:r>
            <a:endParaRPr lang="en-US" sz="30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marL="0" indent="0">
              <a:buNone/>
            </a:pPr>
            <a:r>
              <a:rPr lang="en-US" sz="1500" dirty="0">
                <a:solidFill>
                  <a:srgbClr val="6B7280"/>
                </a:solidFill>
                <a:latin typeface="Calibri" pitchFamily="34" charset="0"/>
                <a:ea typeface="Calibri" pitchFamily="34" charset="-122"/>
                <a:cs typeface="Calibri" pitchFamily="34" charset="-120"/>
              </a:rPr>
              <a:t>Three months, 6,914 surveys and 500,884 answered calls from 232 rostered agents</a:t>
            </a:r>
            <a:endParaRPr lang="en-US" sz="1500" dirty="0"/>
          </a:p>
        </p:txBody>
      </p:sp>
      <p:sp>
        <p:nvSpPr>
          <p:cNvPr id="6" name="Shape 4"/>
          <p:cNvSpPr/>
          <p:nvPr/>
        </p:nvSpPr>
        <p:spPr>
          <a:xfrm>
            <a:off x="548640" y="2057400"/>
            <a:ext cx="2606040" cy="1234440"/>
          </a:xfrm>
          <a:prstGeom prst="roundRect">
            <a:avLst>
              <a:gd name="adj" fmla="val 5926"/>
            </a:avLst>
          </a:prstGeom>
          <a:solidFill>
            <a:srgbClr val="F4F5F7"/>
          </a:solidFill>
          <a:ln/>
        </p:spPr>
      </p:sp>
      <p:sp>
        <p:nvSpPr>
          <p:cNvPr id="7" name="Text 5"/>
          <p:cNvSpPr txBox="1"/>
          <p:nvPr/>
        </p:nvSpPr>
        <p:spPr>
          <a:xfrm>
            <a:off x="777240" y="2194560"/>
            <a:ext cx="2240280" cy="640080"/>
          </a:xfrm>
          <a:prstGeom prst="rect">
            <a:avLst/>
          </a:prstGeom>
          <a:noFill/>
          <a:ln/>
        </p:spPr>
        <p:txBody>
          <a:bodyPr wrap="square" lIns="0" tIns="0" rIns="0" bIns="0" rtlCol="0" anchor="ctr"/>
          <a:lstStyle/>
          <a:p>
            <a:pPr marL="0" indent="0">
              <a:buNone/>
            </a:pPr>
            <a:r>
              <a:rPr lang="en-US" sz="3600" b="1" dirty="0">
                <a:solidFill>
                  <a:srgbClr val="1F1F1F"/>
                </a:solidFill>
                <a:latin typeface="Calibri" pitchFamily="34" charset="0"/>
                <a:ea typeface="Calibri" pitchFamily="34" charset="-122"/>
                <a:cs typeface="Calibri" pitchFamily="34" charset="-120"/>
              </a:rPr>
              <a:t>4.01</a:t>
            </a:r>
            <a:endParaRPr lang="en-US" sz="3600" dirty="0"/>
          </a:p>
        </p:txBody>
      </p:sp>
      <p:sp>
        <p:nvSpPr>
          <p:cNvPr id="8" name="Text 6"/>
          <p:cNvSpPr txBox="1"/>
          <p:nvPr/>
        </p:nvSpPr>
        <p:spPr>
          <a:xfrm>
            <a:off x="777240" y="2834640"/>
            <a:ext cx="224028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Avg CSAT (1-5)  ·  July 3.96</a:t>
            </a:r>
            <a:endParaRPr lang="en-US" sz="1200" dirty="0"/>
          </a:p>
        </p:txBody>
      </p:sp>
      <p:sp>
        <p:nvSpPr>
          <p:cNvPr id="9" name="Shape 7"/>
          <p:cNvSpPr/>
          <p:nvPr/>
        </p:nvSpPr>
        <p:spPr>
          <a:xfrm>
            <a:off x="3337560" y="2057400"/>
            <a:ext cx="2606040" cy="1234440"/>
          </a:xfrm>
          <a:prstGeom prst="roundRect">
            <a:avLst>
              <a:gd name="adj" fmla="val 5926"/>
            </a:avLst>
          </a:prstGeom>
          <a:solidFill>
            <a:srgbClr val="F4F5F7"/>
          </a:solidFill>
          <a:ln/>
        </p:spPr>
      </p:sp>
      <p:sp>
        <p:nvSpPr>
          <p:cNvPr id="10" name="Text 8"/>
          <p:cNvSpPr txBox="1"/>
          <p:nvPr/>
        </p:nvSpPr>
        <p:spPr>
          <a:xfrm>
            <a:off x="3566160" y="2194560"/>
            <a:ext cx="2240280" cy="640080"/>
          </a:xfrm>
          <a:prstGeom prst="rect">
            <a:avLst/>
          </a:prstGeom>
          <a:noFill/>
          <a:ln/>
        </p:spPr>
        <p:txBody>
          <a:bodyPr wrap="square" lIns="0" tIns="0" rIns="0" bIns="0" rtlCol="0" anchor="ctr"/>
          <a:lstStyle/>
          <a:p>
            <a:pPr marL="0" indent="0">
              <a:buNone/>
            </a:pPr>
            <a:r>
              <a:rPr lang="en-US" sz="3600" b="1" dirty="0">
                <a:solidFill>
                  <a:srgbClr val="E00800"/>
                </a:solidFill>
                <a:latin typeface="Calibri" pitchFamily="34" charset="0"/>
                <a:ea typeface="Calibri" pitchFamily="34" charset="-122"/>
                <a:cs typeface="Calibri" pitchFamily="34" charset="-120"/>
              </a:rPr>
              <a:t>20.8%</a:t>
            </a:r>
            <a:endParaRPr lang="en-US" sz="3600" dirty="0"/>
          </a:p>
        </p:txBody>
      </p:sp>
      <p:sp>
        <p:nvSpPr>
          <p:cNvPr id="11" name="Text 9"/>
          <p:cNvSpPr txBox="1"/>
          <p:nvPr/>
        </p:nvSpPr>
        <p:spPr>
          <a:xfrm>
            <a:off x="3566160" y="2834640"/>
            <a:ext cx="224028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DSAT %: 1 in 5 surveys scores 1-2</a:t>
            </a:r>
            <a:endParaRPr lang="en-US" sz="1200" dirty="0"/>
          </a:p>
        </p:txBody>
      </p:sp>
      <p:sp>
        <p:nvSpPr>
          <p:cNvPr id="12" name="Shape 10"/>
          <p:cNvSpPr/>
          <p:nvPr/>
        </p:nvSpPr>
        <p:spPr>
          <a:xfrm>
            <a:off x="6126480" y="2057400"/>
            <a:ext cx="2606040" cy="1234440"/>
          </a:xfrm>
          <a:prstGeom prst="roundRect">
            <a:avLst>
              <a:gd name="adj" fmla="val 5926"/>
            </a:avLst>
          </a:prstGeom>
          <a:solidFill>
            <a:srgbClr val="F4F5F7"/>
          </a:solidFill>
          <a:ln/>
        </p:spPr>
      </p:sp>
      <p:sp>
        <p:nvSpPr>
          <p:cNvPr id="13" name="Text 11"/>
          <p:cNvSpPr txBox="1"/>
          <p:nvPr/>
        </p:nvSpPr>
        <p:spPr>
          <a:xfrm>
            <a:off x="6355080" y="2194560"/>
            <a:ext cx="2240280" cy="640080"/>
          </a:xfrm>
          <a:prstGeom prst="rect">
            <a:avLst/>
          </a:prstGeom>
          <a:noFill/>
          <a:ln/>
        </p:spPr>
        <p:txBody>
          <a:bodyPr wrap="square" lIns="0" tIns="0" rIns="0" bIns="0" rtlCol="0" anchor="ctr"/>
          <a:lstStyle/>
          <a:p>
            <a:pPr marL="0" indent="0">
              <a:buNone/>
            </a:pPr>
            <a:r>
              <a:rPr lang="en-US" sz="3600" b="1" dirty="0">
                <a:solidFill>
                  <a:srgbClr val="E00800"/>
                </a:solidFill>
                <a:latin typeface="Calibri" pitchFamily="34" charset="0"/>
                <a:ea typeface="Calibri" pitchFamily="34" charset="-122"/>
                <a:cs typeface="Calibri" pitchFamily="34" charset="-120"/>
              </a:rPr>
              <a:t>+18%</a:t>
            </a:r>
            <a:endParaRPr lang="en-US" sz="3600" dirty="0"/>
          </a:p>
        </p:txBody>
      </p:sp>
      <p:sp>
        <p:nvSpPr>
          <p:cNvPr id="14" name="Text 12"/>
          <p:cNvSpPr txBox="1"/>
          <p:nvPr/>
        </p:nvSpPr>
        <p:spPr>
          <a:xfrm>
            <a:off x="6355080" y="2834640"/>
            <a:ext cx="224028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AHT May → Jul (430s → 508s)</a:t>
            </a:r>
            <a:endParaRPr lang="en-US" sz="1200" dirty="0"/>
          </a:p>
        </p:txBody>
      </p:sp>
      <p:sp>
        <p:nvSpPr>
          <p:cNvPr id="15" name="Shape 13"/>
          <p:cNvSpPr/>
          <p:nvPr/>
        </p:nvSpPr>
        <p:spPr>
          <a:xfrm>
            <a:off x="8915400" y="2057400"/>
            <a:ext cx="2606040" cy="1234440"/>
          </a:xfrm>
          <a:prstGeom prst="roundRect">
            <a:avLst>
              <a:gd name="adj" fmla="val 5926"/>
            </a:avLst>
          </a:prstGeom>
          <a:solidFill>
            <a:srgbClr val="F4F5F7"/>
          </a:solidFill>
          <a:ln/>
        </p:spPr>
      </p:sp>
      <p:sp>
        <p:nvSpPr>
          <p:cNvPr id="16" name="Text 14"/>
          <p:cNvSpPr txBox="1"/>
          <p:nvPr/>
        </p:nvSpPr>
        <p:spPr>
          <a:xfrm>
            <a:off x="9144000" y="2194560"/>
            <a:ext cx="2240280" cy="640080"/>
          </a:xfrm>
          <a:prstGeom prst="rect">
            <a:avLst/>
          </a:prstGeom>
          <a:noFill/>
          <a:ln/>
        </p:spPr>
        <p:txBody>
          <a:bodyPr wrap="square" lIns="0" tIns="0" rIns="0" bIns="0" rtlCol="0" anchor="ctr"/>
          <a:lstStyle/>
          <a:p>
            <a:pPr marL="0" indent="0">
              <a:buNone/>
            </a:pPr>
            <a:r>
              <a:rPr lang="en-US" sz="3600" b="1" dirty="0">
                <a:solidFill>
                  <a:srgbClr val="E00800"/>
                </a:solidFill>
                <a:latin typeface="Calibri" pitchFamily="34" charset="0"/>
                <a:ea typeface="Calibri" pitchFamily="34" charset="-122"/>
                <a:cs typeface="Calibri" pitchFamily="34" charset="-120"/>
              </a:rPr>
              <a:t>3×</a:t>
            </a:r>
            <a:endParaRPr lang="en-US" sz="3600" dirty="0"/>
          </a:p>
        </p:txBody>
      </p:sp>
      <p:sp>
        <p:nvSpPr>
          <p:cNvPr id="17" name="Text 15"/>
          <p:cNvSpPr txBox="1"/>
          <p:nvPr/>
        </p:nvSpPr>
        <p:spPr>
          <a:xfrm>
            <a:off x="9144000" y="2834640"/>
            <a:ext cx="224028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Hold time: Supervisor 3 vs peers</a:t>
            </a:r>
            <a:endParaRPr lang="en-US" sz="1200" dirty="0"/>
          </a:p>
        </p:txBody>
      </p:sp>
      <p:sp>
        <p:nvSpPr>
          <p:cNvPr id="18" name="Text 16"/>
          <p:cNvSpPr txBox="1"/>
          <p:nvPr/>
        </p:nvSpPr>
        <p:spPr>
          <a:xfrm>
            <a:off x="548640" y="3657600"/>
            <a:ext cx="11094415" cy="2651760"/>
          </a:xfrm>
          <a:prstGeom prst="rect">
            <a:avLst/>
          </a:prstGeom>
          <a:noFill/>
          <a:ln/>
        </p:spPr>
        <p:txBody>
          <a:bodyPr wrap="square" lIns="0" tIns="0" rIns="0" bIns="0" rtlCol="0" anchor="t"/>
          <a:lstStyle/>
          <a:p>
            <a:pPr marL="203200" indent="-203200">
              <a:spcAft>
                <a:spcPts val="800"/>
              </a:spcAft>
              <a:buSzPct val="100000"/>
              <a:buChar char="•"/>
            </a:pPr>
            <a:r>
              <a:rPr lang="en-US" sz="1700" b="1" dirty="0">
                <a:solidFill>
                  <a:srgbClr val="1F1F1F"/>
                </a:solidFill>
                <a:latin typeface="Calibri" pitchFamily="34" charset="0"/>
                <a:ea typeface="Calibri" pitchFamily="34" charset="-122"/>
                <a:cs typeface="Calibri" pitchFamily="34" charset="-120"/>
              </a:rPr>
              <a:t>Productivity is the main risk. </a:t>
            </a:r>
            <a:r>
              <a:rPr lang="en-US" sz="1700" dirty="0">
                <a:solidFill>
                  <a:srgbClr val="1F1F1F"/>
                </a:solidFill>
                <a:latin typeface="Calibri" pitchFamily="34" charset="0"/>
                <a:ea typeface="Calibri" pitchFamily="34" charset="-122"/>
                <a:cs typeface="Calibri" pitchFamily="34" charset="-120"/>
              </a:rPr>
              <a:t>AHT rose 78 seconds in two months in both LOBs, mostly from longer talk (+66s) and hold (+14s).</a:t>
            </a:r>
            <a:endParaRPr lang="en-US" sz="1700" dirty="0"/>
          </a:p>
          <a:p>
            <a:pPr marL="203200" indent="-203200">
              <a:spcAft>
                <a:spcPts val="800"/>
              </a:spcAft>
              <a:buSzPct val="100000"/>
              <a:buChar char="•"/>
            </a:pPr>
            <a:r>
              <a:rPr lang="en-US" sz="1700" b="1" dirty="0">
                <a:solidFill>
                  <a:srgbClr val="1F1F1F"/>
                </a:solidFill>
                <a:latin typeface="Calibri" pitchFamily="34" charset="0"/>
                <a:ea typeface="Calibri" pitchFamily="34" charset="-122"/>
                <a:cs typeface="Calibri" pitchFamily="34" charset="-120"/>
              </a:rPr>
              <a:t>CSAT is polarised. </a:t>
            </a:r>
            <a:r>
              <a:rPr lang="en-US" sz="1700" dirty="0">
                <a:solidFill>
                  <a:srgbClr val="1F1F1F"/>
                </a:solidFill>
                <a:latin typeface="Calibri" pitchFamily="34" charset="0"/>
                <a:ea typeface="Calibri" pitchFamily="34" charset="-122"/>
                <a:cs typeface="Calibri" pitchFamily="34" charset="-120"/>
              </a:rPr>
              <a:t>64% of customers give 5 and 18% give 1. Reducing the 1-scores moves CSAT more than anything else. Knowledge (4.05) trails courtesy (4.40).</a:t>
            </a:r>
            <a:endParaRPr lang="en-US" sz="1700" dirty="0"/>
          </a:p>
          <a:p>
            <a:pPr marL="203200" indent="-203200">
              <a:spcAft>
                <a:spcPts val="800"/>
              </a:spcAft>
              <a:buSzPct val="100000"/>
              <a:buChar char="•"/>
            </a:pPr>
            <a:r>
              <a:rPr lang="en-US" sz="1700" b="1" dirty="0">
                <a:solidFill>
                  <a:srgbClr val="1F1F1F"/>
                </a:solidFill>
                <a:latin typeface="Calibri" pitchFamily="34" charset="0"/>
                <a:ea typeface="Calibri" pitchFamily="34" charset="-122"/>
                <a:cs typeface="Calibri" pitchFamily="34" charset="-120"/>
              </a:rPr>
              <a:t>One team drives most of the gap. </a:t>
            </a:r>
            <a:r>
              <a:rPr lang="en-US" sz="1700" dirty="0">
                <a:solidFill>
                  <a:srgbClr val="1F1F1F"/>
                </a:solidFill>
                <a:latin typeface="Calibri" pitchFamily="34" charset="0"/>
                <a:ea typeface="Calibri" pitchFamily="34" charset="-122"/>
                <a:cs typeface="Calibri" pitchFamily="34" charset="-120"/>
              </a:rPr>
              <a:t>Supervisor 3 has the lowest CSAT (3.88) and the highest AHT (597s), with 71s of hold per call.</a:t>
            </a:r>
            <a:endParaRPr lang="en-US" sz="1700" dirty="0"/>
          </a:p>
          <a:p>
            <a:pPr marL="203200" indent="-203200">
              <a:spcAft>
                <a:spcPts val="800"/>
              </a:spcAft>
              <a:buSzPct val="100000"/>
              <a:buChar char="•"/>
            </a:pPr>
            <a:r>
              <a:rPr lang="en-US" sz="1700" b="1" dirty="0">
                <a:solidFill>
                  <a:srgbClr val="1F1F1F"/>
                </a:solidFill>
                <a:latin typeface="Calibri" pitchFamily="34" charset="0"/>
                <a:ea typeface="Calibri" pitchFamily="34" charset="-122"/>
                <a:cs typeface="Calibri" pitchFamily="34" charset="-120"/>
              </a:rPr>
              <a:t>WFH agents are 22% faster with the same CSAT </a:t>
            </a:r>
            <a:r>
              <a:rPr lang="en-US" sz="1700" dirty="0">
                <a:solidFill>
                  <a:srgbClr val="1F1F1F"/>
                </a:solidFill>
                <a:latin typeface="Calibri" pitchFamily="34" charset="0"/>
                <a:ea typeface="Calibri" pitchFamily="34" charset="-122"/>
                <a:cs typeface="Calibri" pitchFamily="34" charset="-120"/>
              </a:rPr>
              <a:t>(397s vs 512s, 4.02 vs 4.01). This holds for both Mobile and TV.</a:t>
            </a:r>
            <a:endParaRPr lang="en-US" sz="1700" dirty="0"/>
          </a:p>
        </p:txBody>
      </p:sp>
      <p:sp>
        <p:nvSpPr>
          <p:cNvPr id="20" name="Text 18"/>
          <p:cNvSpPr txBox="1"/>
          <p:nvPr/>
        </p:nvSpPr>
        <p:spPr>
          <a:xfrm>
            <a:off x="11185855" y="6446520"/>
            <a:ext cx="457200" cy="22860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389888" cy="274320"/>
          </a:xfrm>
          <a:prstGeom prst="roundRect">
            <a:avLst>
              <a:gd name="adj" fmla="val 50000"/>
            </a:avLst>
          </a:prstGeom>
          <a:solidFill>
            <a:srgbClr val="FDE3E1"/>
          </a:solidFill>
          <a:ln/>
        </p:spPr>
      </p:sp>
      <p:sp>
        <p:nvSpPr>
          <p:cNvPr id="3" name="Text 1"/>
          <p:cNvSpPr txBox="1"/>
          <p:nvPr/>
        </p:nvSpPr>
        <p:spPr>
          <a:xfrm>
            <a:off x="548640" y="411480"/>
            <a:ext cx="1389888" cy="274320"/>
          </a:xfrm>
          <a:prstGeom prst="rect">
            <a:avLst/>
          </a:prstGeom>
          <a:noFill/>
          <a:ln/>
        </p:spPr>
        <p:txBody>
          <a:bodyPr wrap="square" lIns="0" tIns="0" rIns="0" bIns="0" rtlCol="0" anchor="ctr"/>
          <a:lstStyle/>
          <a:p>
            <a:pPr marL="0" indent="0" algn="ctr">
              <a:buNone/>
            </a:pPr>
            <a:r>
              <a:rPr lang="en-US" sz="1000" b="1" kern="0" spc="100" dirty="0">
                <a:solidFill>
                  <a:srgbClr val="E00800"/>
                </a:solidFill>
                <a:latin typeface="Calibri" pitchFamily="34" charset="0"/>
                <a:ea typeface="Calibri" pitchFamily="34" charset="-122"/>
                <a:cs typeface="Calibri" pitchFamily="34" charset="-120"/>
              </a:rPr>
              <a:t>APPROACH</a:t>
            </a:r>
            <a:endParaRPr lang="en-US" sz="1000" dirty="0"/>
          </a:p>
        </p:txBody>
      </p:sp>
      <p:sp>
        <p:nvSpPr>
          <p:cNvPr id="4" name="Text 2"/>
          <p:cNvSpPr txBox="1"/>
          <p:nvPr/>
        </p:nvSpPr>
        <p:spPr>
          <a:xfrm>
            <a:off x="548640" y="777240"/>
            <a:ext cx="11094415" cy="685800"/>
          </a:xfrm>
          <a:prstGeom prst="rect">
            <a:avLst/>
          </a:prstGeom>
          <a:noFill/>
          <a:ln/>
        </p:spPr>
        <p:txBody>
          <a:bodyPr wrap="square" lIns="0" tIns="0" rIns="0" bIns="0" rtlCol="0" anchor="t"/>
          <a:lstStyle/>
          <a:p>
            <a:pPr marL="0" indent="0">
              <a:buNone/>
            </a:pPr>
            <a:r>
              <a:rPr lang="en-US" sz="3000" b="1" dirty="0">
                <a:solidFill>
                  <a:srgbClr val="1F1F1F"/>
                </a:solidFill>
                <a:latin typeface="Calibri" pitchFamily="34" charset="0"/>
                <a:ea typeface="Calibri" pitchFamily="34" charset="-122"/>
                <a:cs typeface="Calibri" pitchFamily="34" charset="-120"/>
              </a:rPr>
              <a:t>One refreshable model feeds every view</a:t>
            </a:r>
            <a:endParaRPr lang="en-US" sz="3000" dirty="0"/>
          </a:p>
        </p:txBody>
      </p:sp>
      <p:sp>
        <p:nvSpPr>
          <p:cNvPr id="6" name="Shape 4"/>
          <p:cNvSpPr/>
          <p:nvPr/>
        </p:nvSpPr>
        <p:spPr>
          <a:xfrm>
            <a:off x="548640" y="2148840"/>
            <a:ext cx="2011680" cy="1828800"/>
          </a:xfrm>
          <a:prstGeom prst="roundRect">
            <a:avLst>
              <a:gd name="adj" fmla="val 4000"/>
            </a:avLst>
          </a:prstGeom>
          <a:solidFill>
            <a:srgbClr val="F4F5F7"/>
          </a:solidFill>
          <a:ln/>
        </p:spPr>
      </p:sp>
      <p:sp>
        <p:nvSpPr>
          <p:cNvPr id="7" name="Shape 5"/>
          <p:cNvSpPr/>
          <p:nvPr/>
        </p:nvSpPr>
        <p:spPr>
          <a:xfrm>
            <a:off x="731520" y="2331720"/>
            <a:ext cx="411480" cy="411480"/>
          </a:xfrm>
          <a:prstGeom prst="ellipse">
            <a:avLst/>
          </a:prstGeom>
          <a:solidFill>
            <a:srgbClr val="3C3C3B"/>
          </a:solidFill>
          <a:ln/>
        </p:spPr>
      </p:sp>
      <p:sp>
        <p:nvSpPr>
          <p:cNvPr id="8" name="Text 6"/>
          <p:cNvSpPr txBox="1"/>
          <p:nvPr/>
        </p:nvSpPr>
        <p:spPr>
          <a:xfrm>
            <a:off x="731520" y="23317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731520" y="2880360"/>
            <a:ext cx="1691640" cy="320040"/>
          </a:xfrm>
          <a:prstGeom prst="rect">
            <a:avLst/>
          </a:prstGeom>
          <a:noFill/>
          <a:ln/>
        </p:spPr>
        <p:txBody>
          <a:bodyPr wrap="square" lIns="0" tIns="0" rIns="0" bIns="0"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Raw sheets</a:t>
            </a:r>
            <a:endParaRPr lang="en-US" sz="1500" dirty="0"/>
          </a:p>
        </p:txBody>
      </p:sp>
      <p:sp>
        <p:nvSpPr>
          <p:cNvPr id="10" name="Text 8"/>
          <p:cNvSpPr txBox="1"/>
          <p:nvPr/>
        </p:nvSpPr>
        <p:spPr>
          <a:xfrm>
            <a:off x="731520" y="3200400"/>
            <a:ext cx="1691640" cy="7315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CFM · Productivity · Active List as Excel tables</a:t>
            </a:r>
            <a:endParaRPr lang="en-US" sz="1100" dirty="0"/>
          </a:p>
        </p:txBody>
      </p:sp>
      <p:sp>
        <p:nvSpPr>
          <p:cNvPr id="11" name="Text 9"/>
          <p:cNvSpPr txBox="1"/>
          <p:nvPr/>
        </p:nvSpPr>
        <p:spPr>
          <a:xfrm>
            <a:off x="2560320" y="2788920"/>
            <a:ext cx="256032" cy="457200"/>
          </a:xfrm>
          <a:prstGeom prst="rect">
            <a:avLst/>
          </a:prstGeom>
          <a:noFill/>
          <a:ln/>
        </p:spPr>
        <p:txBody>
          <a:bodyPr wrap="square" lIns="0" tIns="0" rIns="0" bIns="0" rtlCol="0" anchor="ctr"/>
          <a:lstStyle/>
          <a:p>
            <a:pPr marL="0" indent="0" algn="ctr">
              <a:buNone/>
            </a:pPr>
            <a:r>
              <a:rPr lang="en-US" sz="2400" b="1" dirty="0">
                <a:solidFill>
                  <a:srgbClr val="A6A6A6"/>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2816352" y="2148840"/>
            <a:ext cx="2011680" cy="1828800"/>
          </a:xfrm>
          <a:prstGeom prst="roundRect">
            <a:avLst>
              <a:gd name="adj" fmla="val 4000"/>
            </a:avLst>
          </a:prstGeom>
          <a:solidFill>
            <a:srgbClr val="FDE3E1"/>
          </a:solidFill>
          <a:ln/>
        </p:spPr>
      </p:sp>
      <p:sp>
        <p:nvSpPr>
          <p:cNvPr id="13" name="Shape 11"/>
          <p:cNvSpPr/>
          <p:nvPr/>
        </p:nvSpPr>
        <p:spPr>
          <a:xfrm>
            <a:off x="2999232" y="2331720"/>
            <a:ext cx="411480" cy="411480"/>
          </a:xfrm>
          <a:prstGeom prst="ellipse">
            <a:avLst/>
          </a:prstGeom>
          <a:solidFill>
            <a:srgbClr val="E00800"/>
          </a:solidFill>
          <a:ln/>
        </p:spPr>
      </p:sp>
      <p:sp>
        <p:nvSpPr>
          <p:cNvPr id="14" name="Text 12"/>
          <p:cNvSpPr txBox="1"/>
          <p:nvPr/>
        </p:nvSpPr>
        <p:spPr>
          <a:xfrm>
            <a:off x="2999232" y="23317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2999232" y="2880360"/>
            <a:ext cx="1691640" cy="320040"/>
          </a:xfrm>
          <a:prstGeom prst="rect">
            <a:avLst/>
          </a:prstGeom>
          <a:noFill/>
          <a:ln/>
        </p:spPr>
        <p:txBody>
          <a:bodyPr wrap="square" lIns="0" tIns="0" rIns="0" bIns="0"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Power Query</a:t>
            </a:r>
            <a:endParaRPr lang="en-US" sz="1500" dirty="0"/>
          </a:p>
        </p:txBody>
      </p:sp>
      <p:sp>
        <p:nvSpPr>
          <p:cNvPr id="16" name="Text 14"/>
          <p:cNvSpPr txBox="1"/>
          <p:nvPr/>
        </p:nvSpPr>
        <p:spPr>
          <a:xfrm>
            <a:off x="2999232" y="3200400"/>
            <a:ext cx="1691640" cy="7315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src_ staging: types, #N/A → null, [n/a] → null, negatives → 0, outlier flag</a:t>
            </a:r>
            <a:endParaRPr lang="en-US" sz="1100" dirty="0"/>
          </a:p>
        </p:txBody>
      </p:sp>
      <p:sp>
        <p:nvSpPr>
          <p:cNvPr id="17" name="Text 15"/>
          <p:cNvSpPr txBox="1"/>
          <p:nvPr/>
        </p:nvSpPr>
        <p:spPr>
          <a:xfrm>
            <a:off x="4828032" y="2788920"/>
            <a:ext cx="256032" cy="457200"/>
          </a:xfrm>
          <a:prstGeom prst="rect">
            <a:avLst/>
          </a:prstGeom>
          <a:noFill/>
          <a:ln/>
        </p:spPr>
        <p:txBody>
          <a:bodyPr wrap="square" lIns="0" tIns="0" rIns="0" bIns="0" rtlCol="0" anchor="ctr"/>
          <a:lstStyle/>
          <a:p>
            <a:pPr marL="0" indent="0" algn="ctr">
              <a:buNone/>
            </a:pPr>
            <a:r>
              <a:rPr lang="en-US" sz="2400" b="1" dirty="0">
                <a:solidFill>
                  <a:srgbClr val="A6A6A6"/>
                </a:solidFill>
                <a:latin typeface="Calibri" pitchFamily="34" charset="0"/>
                <a:ea typeface="Calibri" pitchFamily="34" charset="-122"/>
                <a:cs typeface="Calibri" pitchFamily="34" charset="-120"/>
              </a:rPr>
              <a:t>›</a:t>
            </a:r>
            <a:endParaRPr lang="en-US" sz="2400" dirty="0"/>
          </a:p>
        </p:txBody>
      </p:sp>
      <p:sp>
        <p:nvSpPr>
          <p:cNvPr id="18" name="Shape 16"/>
          <p:cNvSpPr/>
          <p:nvPr/>
        </p:nvSpPr>
        <p:spPr>
          <a:xfrm>
            <a:off x="5084064" y="2148840"/>
            <a:ext cx="2011680" cy="1828800"/>
          </a:xfrm>
          <a:prstGeom prst="roundRect">
            <a:avLst>
              <a:gd name="adj" fmla="val 4000"/>
            </a:avLst>
          </a:prstGeom>
          <a:solidFill>
            <a:srgbClr val="F4F5F7"/>
          </a:solidFill>
          <a:ln/>
        </p:spPr>
      </p:sp>
      <p:sp>
        <p:nvSpPr>
          <p:cNvPr id="19" name="Shape 17"/>
          <p:cNvSpPr/>
          <p:nvPr/>
        </p:nvSpPr>
        <p:spPr>
          <a:xfrm>
            <a:off x="5266944" y="2331720"/>
            <a:ext cx="411480" cy="411480"/>
          </a:xfrm>
          <a:prstGeom prst="ellipse">
            <a:avLst/>
          </a:prstGeom>
          <a:solidFill>
            <a:srgbClr val="3C3C3B"/>
          </a:solidFill>
          <a:ln/>
        </p:spPr>
      </p:sp>
      <p:sp>
        <p:nvSpPr>
          <p:cNvPr id="20" name="Text 18"/>
          <p:cNvSpPr txBox="1"/>
          <p:nvPr/>
        </p:nvSpPr>
        <p:spPr>
          <a:xfrm>
            <a:off x="5266944" y="23317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5266944" y="2880360"/>
            <a:ext cx="1691640" cy="320040"/>
          </a:xfrm>
          <a:prstGeom prst="rect">
            <a:avLst/>
          </a:prstGeom>
          <a:noFill/>
          <a:ln/>
        </p:spPr>
        <p:txBody>
          <a:bodyPr wrap="square" lIns="0" tIns="0" rIns="0" bIns="0"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Star schema</a:t>
            </a:r>
            <a:endParaRPr lang="en-US" sz="1500" dirty="0"/>
          </a:p>
        </p:txBody>
      </p:sp>
      <p:sp>
        <p:nvSpPr>
          <p:cNvPr id="22" name="Text 20"/>
          <p:cNvSpPr txBox="1"/>
          <p:nvPr/>
        </p:nvSpPr>
        <p:spPr>
          <a:xfrm>
            <a:off x="5266944" y="3200400"/>
            <a:ext cx="1691640" cy="7315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Fact_CSAT · Fact_Productivity → Dim_Date · Dim_Roster (agent × month)</a:t>
            </a:r>
            <a:endParaRPr lang="en-US" sz="1100" dirty="0"/>
          </a:p>
        </p:txBody>
      </p:sp>
      <p:sp>
        <p:nvSpPr>
          <p:cNvPr id="23" name="Text 21"/>
          <p:cNvSpPr txBox="1"/>
          <p:nvPr/>
        </p:nvSpPr>
        <p:spPr>
          <a:xfrm>
            <a:off x="7095744" y="2788920"/>
            <a:ext cx="256032" cy="457200"/>
          </a:xfrm>
          <a:prstGeom prst="rect">
            <a:avLst/>
          </a:prstGeom>
          <a:noFill/>
          <a:ln/>
        </p:spPr>
        <p:txBody>
          <a:bodyPr wrap="square" lIns="0" tIns="0" rIns="0" bIns="0" rtlCol="0" anchor="ctr"/>
          <a:lstStyle/>
          <a:p>
            <a:pPr marL="0" indent="0" algn="ctr">
              <a:buNone/>
            </a:pPr>
            <a:r>
              <a:rPr lang="en-US" sz="2400" b="1" dirty="0">
                <a:solidFill>
                  <a:srgbClr val="A6A6A6"/>
                </a:solidFill>
                <a:latin typeface="Calibri" pitchFamily="34" charset="0"/>
                <a:ea typeface="Calibri" pitchFamily="34" charset="-122"/>
                <a:cs typeface="Calibri" pitchFamily="34" charset="-120"/>
              </a:rPr>
              <a:t>›</a:t>
            </a:r>
            <a:endParaRPr lang="en-US" sz="2400" dirty="0"/>
          </a:p>
        </p:txBody>
      </p:sp>
      <p:sp>
        <p:nvSpPr>
          <p:cNvPr id="24" name="Shape 22"/>
          <p:cNvSpPr/>
          <p:nvPr/>
        </p:nvSpPr>
        <p:spPr>
          <a:xfrm>
            <a:off x="7351776" y="2148840"/>
            <a:ext cx="2011680" cy="1828800"/>
          </a:xfrm>
          <a:prstGeom prst="roundRect">
            <a:avLst>
              <a:gd name="adj" fmla="val 4000"/>
            </a:avLst>
          </a:prstGeom>
          <a:solidFill>
            <a:srgbClr val="FDE3E1"/>
          </a:solidFill>
          <a:ln/>
        </p:spPr>
      </p:sp>
      <p:sp>
        <p:nvSpPr>
          <p:cNvPr id="25" name="Shape 23"/>
          <p:cNvSpPr/>
          <p:nvPr/>
        </p:nvSpPr>
        <p:spPr>
          <a:xfrm>
            <a:off x="7534656" y="2331720"/>
            <a:ext cx="411480" cy="411480"/>
          </a:xfrm>
          <a:prstGeom prst="ellipse">
            <a:avLst/>
          </a:prstGeom>
          <a:solidFill>
            <a:srgbClr val="E00800"/>
          </a:solidFill>
          <a:ln/>
        </p:spPr>
      </p:sp>
      <p:sp>
        <p:nvSpPr>
          <p:cNvPr id="26" name="Text 24"/>
          <p:cNvSpPr txBox="1"/>
          <p:nvPr/>
        </p:nvSpPr>
        <p:spPr>
          <a:xfrm>
            <a:off x="7534656" y="23317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7534656" y="2880360"/>
            <a:ext cx="1691640" cy="320040"/>
          </a:xfrm>
          <a:prstGeom prst="rect">
            <a:avLst/>
          </a:prstGeom>
          <a:noFill/>
          <a:ln/>
        </p:spPr>
        <p:txBody>
          <a:bodyPr wrap="square" lIns="0" tIns="0" rIns="0" bIns="0"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25 DAX measures</a:t>
            </a:r>
            <a:endParaRPr lang="en-US" sz="1500" dirty="0"/>
          </a:p>
        </p:txBody>
      </p:sp>
      <p:sp>
        <p:nvSpPr>
          <p:cNvPr id="28" name="Text 26"/>
          <p:cNvSpPr txBox="1"/>
          <p:nvPr/>
        </p:nvSpPr>
        <p:spPr>
          <a:xfrm>
            <a:off x="7534656" y="3200400"/>
            <a:ext cx="1691640" cy="7315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Avg CSAT, CSAT %, AHT = ΣHandle ÷ ΣCalls, MoM, vs-account gaps</a:t>
            </a:r>
            <a:endParaRPr lang="en-US" sz="1100" dirty="0"/>
          </a:p>
        </p:txBody>
      </p:sp>
      <p:sp>
        <p:nvSpPr>
          <p:cNvPr id="29" name="Text 27"/>
          <p:cNvSpPr txBox="1"/>
          <p:nvPr/>
        </p:nvSpPr>
        <p:spPr>
          <a:xfrm>
            <a:off x="9363456" y="2788920"/>
            <a:ext cx="256032" cy="457200"/>
          </a:xfrm>
          <a:prstGeom prst="rect">
            <a:avLst/>
          </a:prstGeom>
          <a:noFill/>
          <a:ln/>
        </p:spPr>
        <p:txBody>
          <a:bodyPr wrap="square" lIns="0" tIns="0" rIns="0" bIns="0" rtlCol="0" anchor="ctr"/>
          <a:lstStyle/>
          <a:p>
            <a:pPr marL="0" indent="0" algn="ctr">
              <a:buNone/>
            </a:pPr>
            <a:r>
              <a:rPr lang="en-US" sz="2400" b="1" dirty="0">
                <a:solidFill>
                  <a:srgbClr val="A6A6A6"/>
                </a:solidFill>
                <a:latin typeface="Calibri" pitchFamily="34" charset="0"/>
                <a:ea typeface="Calibri" pitchFamily="34" charset="-122"/>
                <a:cs typeface="Calibri" pitchFamily="34" charset="-120"/>
              </a:rPr>
              <a:t>›</a:t>
            </a:r>
            <a:endParaRPr lang="en-US" sz="2400" dirty="0"/>
          </a:p>
        </p:txBody>
      </p:sp>
      <p:sp>
        <p:nvSpPr>
          <p:cNvPr id="30" name="Shape 28"/>
          <p:cNvSpPr/>
          <p:nvPr/>
        </p:nvSpPr>
        <p:spPr>
          <a:xfrm>
            <a:off x="9619488" y="2148840"/>
            <a:ext cx="2011680" cy="1828800"/>
          </a:xfrm>
          <a:prstGeom prst="roundRect">
            <a:avLst>
              <a:gd name="adj" fmla="val 4000"/>
            </a:avLst>
          </a:prstGeom>
          <a:solidFill>
            <a:srgbClr val="F4F5F7"/>
          </a:solidFill>
          <a:ln/>
        </p:spPr>
      </p:sp>
      <p:sp>
        <p:nvSpPr>
          <p:cNvPr id="31" name="Shape 29"/>
          <p:cNvSpPr/>
          <p:nvPr/>
        </p:nvSpPr>
        <p:spPr>
          <a:xfrm>
            <a:off x="9802368" y="2331720"/>
            <a:ext cx="411480" cy="411480"/>
          </a:xfrm>
          <a:prstGeom prst="ellipse">
            <a:avLst/>
          </a:prstGeom>
          <a:solidFill>
            <a:srgbClr val="3C3C3B"/>
          </a:solidFill>
          <a:ln/>
        </p:spPr>
      </p:sp>
      <p:sp>
        <p:nvSpPr>
          <p:cNvPr id="32" name="Text 30"/>
          <p:cNvSpPr txBox="1"/>
          <p:nvPr/>
        </p:nvSpPr>
        <p:spPr>
          <a:xfrm>
            <a:off x="9802368" y="23317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3" name="Text 31"/>
          <p:cNvSpPr txBox="1"/>
          <p:nvPr/>
        </p:nvSpPr>
        <p:spPr>
          <a:xfrm>
            <a:off x="9802368" y="2880360"/>
            <a:ext cx="1691640" cy="320040"/>
          </a:xfrm>
          <a:prstGeom prst="rect">
            <a:avLst/>
          </a:prstGeom>
          <a:noFill/>
          <a:ln/>
        </p:spPr>
        <p:txBody>
          <a:bodyPr wrap="square" lIns="0" tIns="0" rIns="0" bIns="0"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Dashboard</a:t>
            </a:r>
            <a:endParaRPr lang="en-US" sz="1500" dirty="0"/>
          </a:p>
        </p:txBody>
      </p:sp>
      <p:sp>
        <p:nvSpPr>
          <p:cNvPr id="34" name="Text 32"/>
          <p:cNvSpPr txBox="1"/>
          <p:nvPr/>
        </p:nvSpPr>
        <p:spPr>
          <a:xfrm>
            <a:off x="9802368" y="3200400"/>
            <a:ext cx="1691640" cy="7315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Slicers + timeline + CUBEVALUE KPI cards, pivot charts, drill-down</a:t>
            </a:r>
            <a:endParaRPr lang="en-US" sz="1100" dirty="0"/>
          </a:p>
        </p:txBody>
      </p:sp>
      <p:sp>
        <p:nvSpPr>
          <p:cNvPr id="35" name="Text 33"/>
          <p:cNvSpPr txBox="1"/>
          <p:nvPr/>
        </p:nvSpPr>
        <p:spPr>
          <a:xfrm>
            <a:off x="548640" y="4297680"/>
            <a:ext cx="5486400" cy="320040"/>
          </a:xfrm>
          <a:prstGeom prst="rect">
            <a:avLst/>
          </a:prstGeom>
          <a:noFill/>
          <a:ln/>
        </p:spPr>
        <p:txBody>
          <a:bodyPr wrap="square" lIns="0" tIns="0" rIns="0" bIns="0" rtlCol="0" anchor="ctr"/>
          <a:lstStyle/>
          <a:p>
            <a:pPr marL="0" indent="0">
              <a:buNone/>
            </a:pPr>
            <a:r>
              <a:rPr lang="en-US" sz="1600" b="1" dirty="0">
                <a:solidFill>
                  <a:srgbClr val="1F1F1F"/>
                </a:solidFill>
                <a:latin typeface="Calibri" pitchFamily="34" charset="0"/>
                <a:ea typeface="Calibri" pitchFamily="34" charset="-122"/>
                <a:cs typeface="Calibri" pitchFamily="34" charset="-120"/>
              </a:rPr>
              <a:t>Scope and data-quality decisions</a:t>
            </a:r>
            <a:endParaRPr lang="en-US" sz="1600" dirty="0"/>
          </a:p>
        </p:txBody>
      </p:sp>
      <p:sp>
        <p:nvSpPr>
          <p:cNvPr id="36" name="Text 34"/>
          <p:cNvSpPr txBox="1"/>
          <p:nvPr/>
        </p:nvSpPr>
        <p:spPr>
          <a:xfrm>
            <a:off x="548640" y="4663440"/>
            <a:ext cx="11094415" cy="164592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F1F1F"/>
                </a:solidFill>
                <a:latin typeface="Calibri" pitchFamily="34" charset="0"/>
                <a:ea typeface="Calibri" pitchFamily="34" charset="-122"/>
                <a:cs typeface="Calibri" pitchFamily="34" charset="-120"/>
              </a:rPr>
              <a:t>Account scope = agents on the Active List that month. </a:t>
            </a:r>
            <a:r>
              <a:rPr lang="en-US" sz="1300" dirty="0">
                <a:solidFill>
                  <a:srgbClr val="1F1F1F"/>
                </a:solidFill>
                <a:latin typeface="Calibri" pitchFamily="34" charset="0"/>
                <a:ea typeface="Calibri" pitchFamily="34" charset="-122"/>
                <a:cs typeface="Calibri" pitchFamily="34" charset="-120"/>
              </a:rPr>
              <a:t>All surveys match. 57% of productivity calls match; the rest come from agents who never appear on the list.</a:t>
            </a:r>
            <a:endParaRPr lang="en-US" sz="1300" dirty="0"/>
          </a:p>
          <a:p>
            <a:pPr marL="203200" indent="-203200">
              <a:spcAft>
                <a:spcPts val="800"/>
              </a:spcAft>
              <a:buSzPct val="100000"/>
              <a:buChar char="•"/>
            </a:pPr>
            <a:r>
              <a:rPr lang="en-US" sz="1300" b="1" dirty="0">
                <a:solidFill>
                  <a:srgbClr val="1F1F1F"/>
                </a:solidFill>
                <a:latin typeface="Calibri" pitchFamily="34" charset="0"/>
                <a:ea typeface="Calibri" pitchFamily="34" charset="-122"/>
                <a:cs typeface="Calibri" pitchFamily="34" charset="-120"/>
              </a:rPr>
              <a:t>Roster cleaned: </a:t>
            </a:r>
            <a:r>
              <a:rPr lang="en-US" sz="1300" dirty="0">
                <a:solidFill>
                  <a:srgbClr val="1F1F1F"/>
                </a:solidFill>
                <a:latin typeface="Calibri" pitchFamily="34" charset="0"/>
                <a:ea typeface="Calibri" pitchFamily="34" charset="-122"/>
                <a:cs typeface="Calibri" pitchFamily="34" charset="-120"/>
              </a:rPr>
              <a:t>14 exact duplicates and 34 conflicting agent-month rows resolved; one #N/A Team Leader set to 'Unassigned'.</a:t>
            </a:r>
            <a:endParaRPr lang="en-US" sz="1300" dirty="0"/>
          </a:p>
          <a:p>
            <a:pPr marL="203200" indent="-203200">
              <a:spcAft>
                <a:spcPts val="800"/>
              </a:spcAft>
              <a:buSzPct val="100000"/>
              <a:buChar char="•"/>
            </a:pPr>
            <a:r>
              <a:rPr lang="en-US" sz="1300" b="1" dirty="0">
                <a:solidFill>
                  <a:srgbClr val="1F1F1F"/>
                </a:solidFill>
                <a:latin typeface="Calibri" pitchFamily="34" charset="0"/>
                <a:ea typeface="Calibri" pitchFamily="34" charset="-122"/>
                <a:cs typeface="Calibri" pitchFamily="34" charset="-120"/>
              </a:rPr>
              <a:t>CFM blanks: </a:t>
            </a:r>
            <a:r>
              <a:rPr lang="en-US" sz="1300" dirty="0">
                <a:solidFill>
                  <a:srgbClr val="1F1F1F"/>
                </a:solidFill>
                <a:latin typeface="Calibri" pitchFamily="34" charset="0"/>
                <a:ea typeface="Calibri" pitchFamily="34" charset="-122"/>
                <a:cs typeface="Calibri" pitchFamily="34" charset="-120"/>
              </a:rPr>
              <a:t>only the sub-score comment fields are empty. Sub-scores that were not asked are null (never 0), so averages are not understated.</a:t>
            </a:r>
            <a:endParaRPr lang="en-US" sz="1300" dirty="0"/>
          </a:p>
        </p:txBody>
      </p:sp>
      <p:sp>
        <p:nvSpPr>
          <p:cNvPr id="38" name="Text 36"/>
          <p:cNvSpPr txBox="1"/>
          <p:nvPr/>
        </p:nvSpPr>
        <p:spPr>
          <a:xfrm>
            <a:off x="11185855" y="6446520"/>
            <a:ext cx="457200" cy="22860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a:effectLst/>
      </p:bgPr>
    </p:bg>
    <p:spTree>
      <p:nvGrpSpPr>
        <p:cNvPr id="1" name=""/>
        <p:cNvGrpSpPr/>
        <p:nvPr/>
      </p:nvGrpSpPr>
      <p:grpSpPr>
        <a:xfrm>
          <a:off x="0" y="0"/>
          <a:ext cx="0" cy="0"/>
          <a:chOff x="0" y="0"/>
          <a:chExt cx="0" cy="0"/>
        </a:xfrm>
      </p:grpSpPr>
      <p:sp>
        <p:nvSpPr>
          <p:cNvPr id="2" name="Shape 0"/>
          <p:cNvSpPr/>
          <p:nvPr/>
        </p:nvSpPr>
        <p:spPr>
          <a:xfrm>
            <a:off x="548640" y="411480"/>
            <a:ext cx="2029968" cy="274320"/>
          </a:xfrm>
          <a:prstGeom prst="roundRect">
            <a:avLst>
              <a:gd name="adj" fmla="val 50000"/>
            </a:avLst>
          </a:prstGeom>
          <a:solidFill>
            <a:srgbClr val="FDE3E1"/>
          </a:solidFill>
          <a:ln/>
        </p:spPr>
      </p:sp>
      <p:sp>
        <p:nvSpPr>
          <p:cNvPr id="3" name="Text 1"/>
          <p:cNvSpPr txBox="1"/>
          <p:nvPr/>
        </p:nvSpPr>
        <p:spPr>
          <a:xfrm>
            <a:off x="548640" y="411480"/>
            <a:ext cx="2029968" cy="274320"/>
          </a:xfrm>
          <a:prstGeom prst="rect">
            <a:avLst/>
          </a:prstGeom>
          <a:noFill/>
          <a:ln/>
        </p:spPr>
        <p:txBody>
          <a:bodyPr wrap="square" lIns="0" tIns="0" rIns="0" bIns="0" rtlCol="0" anchor="ctr"/>
          <a:lstStyle/>
          <a:p>
            <a:pPr marL="0" indent="0" algn="ctr">
              <a:buNone/>
            </a:pPr>
            <a:r>
              <a:rPr lang="en-US" sz="1000" b="1" kern="0" spc="100" dirty="0">
                <a:solidFill>
                  <a:srgbClr val="E00800"/>
                </a:solidFill>
                <a:latin typeface="Calibri" pitchFamily="34" charset="0"/>
                <a:ea typeface="Calibri" pitchFamily="34" charset="-122"/>
                <a:cs typeface="Calibri" pitchFamily="34" charset="-120"/>
              </a:rPr>
              <a:t>THE DASHBOARD</a:t>
            </a:r>
            <a:endParaRPr lang="en-US" sz="1000" dirty="0"/>
          </a:p>
        </p:txBody>
      </p:sp>
      <p:sp>
        <p:nvSpPr>
          <p:cNvPr id="4" name="Text 2"/>
          <p:cNvSpPr txBox="1"/>
          <p:nvPr/>
        </p:nvSpPr>
        <p:spPr>
          <a:xfrm>
            <a:off x="548640" y="777240"/>
            <a:ext cx="11094415" cy="685800"/>
          </a:xfrm>
          <a:prstGeom prst="rect">
            <a:avLst/>
          </a:prstGeom>
          <a:noFill/>
          <a:ln/>
        </p:spPr>
        <p:txBody>
          <a:bodyPr wrap="square" lIns="0" tIns="0" rIns="0" bIns="0" rtlCol="0" anchor="t"/>
          <a:lstStyle/>
          <a:p>
            <a:pPr marL="0" indent="0">
              <a:buNone/>
            </a:pPr>
            <a:r>
              <a:rPr lang="en-US" sz="3000" b="1" dirty="0">
                <a:solidFill>
                  <a:srgbClr val="1F1F1F"/>
                </a:solidFill>
                <a:latin typeface="Calibri" pitchFamily="34" charset="0"/>
                <a:ea typeface="Calibri" pitchFamily="34" charset="-122"/>
                <a:cs typeface="Calibri" pitchFamily="34" charset="-120"/>
              </a:rPr>
              <a:t>Four pages, one set of filters</a:t>
            </a:r>
            <a:endParaRPr lang="en-US" sz="3000" dirty="0"/>
          </a:p>
        </p:txBody>
      </p:sp>
      <p:pic>
        <p:nvPicPr>
          <p:cNvPr id="5" name="Image 0" descr="C:\Users\LOQ\AppData\Roaming\Claude\scratch-workspaces\a1fd975b-6d99-44a0-923b-e1cfd58aaa2b\0897ac5e-ade4-45b4-b298-ef91eb33b318\scratch-2026-09-29-6a169e\build\snap_Dashboard.png"/>
          <p:cNvPicPr>
            <a:picLocks noChangeAspect="1"/>
          </p:cNvPicPr>
          <p:nvPr/>
        </p:nvPicPr>
        <p:blipFill>
          <a:blip r:embed="rId3"/>
          <a:stretch>
            <a:fillRect/>
          </a:stretch>
        </p:blipFill>
        <p:spPr>
          <a:xfrm>
            <a:off x="548640" y="1600200"/>
            <a:ext cx="6583680" cy="4674299"/>
          </a:xfrm>
          <a:prstGeom prst="rect">
            <a:avLst/>
          </a:prstGeom>
          <a:effectLst>
            <a:outerShdw blurRad="101600" dist="38100" dir="5400000" algn="bl" rotWithShape="0">
              <a:srgbClr val="000000">
                <a:alpha val="18000"/>
              </a:srgbClr>
            </a:outerShdw>
          </a:effectLst>
        </p:spPr>
      </p:pic>
      <p:sp>
        <p:nvSpPr>
          <p:cNvPr id="6" name="Text 3"/>
          <p:cNvSpPr txBox="1"/>
          <p:nvPr/>
        </p:nvSpPr>
        <p:spPr>
          <a:xfrm>
            <a:off x="7452360" y="1645920"/>
            <a:ext cx="4190695" cy="292608"/>
          </a:xfrm>
          <a:prstGeom prst="rect">
            <a:avLst/>
          </a:prstGeom>
          <a:noFill/>
          <a:ln/>
        </p:spPr>
        <p:txBody>
          <a:bodyPr wrap="square" lIns="0" tIns="0" rIns="0" bIns="0" rtlCol="0" anchor="ctr"/>
          <a:lstStyle/>
          <a:p>
            <a:pPr marL="0" indent="0">
              <a:buNone/>
            </a:pPr>
            <a:r>
              <a:rPr lang="en-US" sz="1500" b="1" dirty="0">
                <a:solidFill>
                  <a:srgbClr val="E00800"/>
                </a:solidFill>
                <a:latin typeface="Calibri" pitchFamily="34" charset="0"/>
                <a:ea typeface="Calibri" pitchFamily="34" charset="-122"/>
                <a:cs typeface="Calibri" pitchFamily="34" charset="-120"/>
              </a:rPr>
              <a:t>Dashboard</a:t>
            </a:r>
            <a:endParaRPr lang="en-US" sz="1500" dirty="0"/>
          </a:p>
        </p:txBody>
      </p:sp>
      <p:sp>
        <p:nvSpPr>
          <p:cNvPr id="7" name="Text 4"/>
          <p:cNvSpPr txBox="1"/>
          <p:nvPr/>
        </p:nvSpPr>
        <p:spPr>
          <a:xfrm>
            <a:off x="7452360" y="1938528"/>
            <a:ext cx="4190695" cy="822960"/>
          </a:xfrm>
          <a:prstGeom prst="rect">
            <a:avLst/>
          </a:prstGeom>
          <a:noFill/>
          <a:ln/>
        </p:spPr>
        <p:txBody>
          <a:bodyPr wrap="square" lIns="0" tIns="0" rIns="0" bIns="0" rtlCol="0" anchor="t"/>
          <a:lstStyle/>
          <a:p>
            <a:pPr marL="0" indent="0">
              <a:buNone/>
            </a:pPr>
            <a:r>
              <a:rPr lang="en-US" sz="1200" dirty="0">
                <a:solidFill>
                  <a:srgbClr val="3C3C3B"/>
                </a:solidFill>
                <a:latin typeface="Calibri" pitchFamily="34" charset="0"/>
                <a:ea typeface="Calibri" pitchFamily="34" charset="-122"/>
                <a:cs typeface="Calibri" pitchFamily="34" charset="-120"/>
              </a:rPr>
              <a:t>KPI cards, CSAT and AHT trends with a Monthly/Weekly/Daily switch, LOB × WFH/WFO, account snapshot, Team Leader ranking</a:t>
            </a:r>
            <a:endParaRPr lang="en-US" sz="1200" dirty="0"/>
          </a:p>
        </p:txBody>
      </p:sp>
      <p:sp>
        <p:nvSpPr>
          <p:cNvPr id="8" name="Text 5"/>
          <p:cNvSpPr txBox="1"/>
          <p:nvPr/>
        </p:nvSpPr>
        <p:spPr>
          <a:xfrm>
            <a:off x="7452360" y="2788920"/>
            <a:ext cx="4190695" cy="292608"/>
          </a:xfrm>
          <a:prstGeom prst="rect">
            <a:avLst/>
          </a:prstGeom>
          <a:noFill/>
          <a:ln/>
        </p:spPr>
        <p:txBody>
          <a:bodyPr wrap="square" lIns="0" tIns="0" rIns="0" bIns="0" rtlCol="0" anchor="ctr"/>
          <a:lstStyle/>
          <a:p>
            <a:pPr marL="0" indent="0">
              <a:buNone/>
            </a:pPr>
            <a:r>
              <a:rPr lang="en-US" sz="1500" b="1" dirty="0">
                <a:solidFill>
                  <a:srgbClr val="E00800"/>
                </a:solidFill>
                <a:latin typeface="Calibri" pitchFamily="34" charset="0"/>
                <a:ea typeface="Calibri" pitchFamily="34" charset="-122"/>
                <a:cs typeface="Calibri" pitchFamily="34" charset="-120"/>
              </a:rPr>
              <a:t>Agent View</a:t>
            </a:r>
            <a:endParaRPr lang="en-US" sz="1500" dirty="0"/>
          </a:p>
        </p:txBody>
      </p:sp>
      <p:sp>
        <p:nvSpPr>
          <p:cNvPr id="9" name="Text 6"/>
          <p:cNvSpPr txBox="1"/>
          <p:nvPr/>
        </p:nvSpPr>
        <p:spPr>
          <a:xfrm>
            <a:off x="7452360" y="3081528"/>
            <a:ext cx="4190695" cy="822960"/>
          </a:xfrm>
          <a:prstGeom prst="rect">
            <a:avLst/>
          </a:prstGeom>
          <a:noFill/>
          <a:ln/>
        </p:spPr>
        <p:txBody>
          <a:bodyPr wrap="square" lIns="0" tIns="0" rIns="0" bIns="0" rtlCol="0" anchor="t"/>
          <a:lstStyle/>
          <a:p>
            <a:pPr marL="0" indent="0">
              <a:buNone/>
            </a:pPr>
            <a:r>
              <a:rPr lang="en-US" sz="1200" dirty="0">
                <a:solidFill>
                  <a:srgbClr val="3C3C3B"/>
                </a:solidFill>
                <a:latin typeface="Calibri" pitchFamily="34" charset="0"/>
                <a:ea typeface="Calibri" pitchFamily="34" charset="-122"/>
                <a:cs typeface="Calibri" pitchFamily="34" charset="-120"/>
              </a:rPr>
              <a:t>Leaderboard (10+ surveys) with colour scales and a CSAT vs AHT quadrant for coaching</a:t>
            </a:r>
            <a:endParaRPr lang="en-US" sz="1200" dirty="0"/>
          </a:p>
        </p:txBody>
      </p:sp>
      <p:sp>
        <p:nvSpPr>
          <p:cNvPr id="10" name="Text 7"/>
          <p:cNvSpPr txBox="1"/>
          <p:nvPr/>
        </p:nvSpPr>
        <p:spPr>
          <a:xfrm>
            <a:off x="7452360" y="3931920"/>
            <a:ext cx="4190695" cy="292608"/>
          </a:xfrm>
          <a:prstGeom prst="rect">
            <a:avLst/>
          </a:prstGeom>
          <a:noFill/>
          <a:ln/>
        </p:spPr>
        <p:txBody>
          <a:bodyPr wrap="square" lIns="0" tIns="0" rIns="0" bIns="0" rtlCol="0" anchor="ctr"/>
          <a:lstStyle/>
          <a:p>
            <a:pPr marL="0" indent="0">
              <a:buNone/>
            </a:pPr>
            <a:r>
              <a:rPr lang="en-US" sz="1500" b="1" dirty="0">
                <a:solidFill>
                  <a:srgbClr val="E00800"/>
                </a:solidFill>
                <a:latin typeface="Calibri" pitchFamily="34" charset="0"/>
                <a:ea typeface="Calibri" pitchFamily="34" charset="-122"/>
                <a:cs typeface="Calibri" pitchFamily="34" charset="-120"/>
              </a:rPr>
              <a:t>Summary</a:t>
            </a:r>
            <a:endParaRPr lang="en-US" sz="1500" dirty="0"/>
          </a:p>
        </p:txBody>
      </p:sp>
      <p:sp>
        <p:nvSpPr>
          <p:cNvPr id="11" name="Text 8"/>
          <p:cNvSpPr txBox="1"/>
          <p:nvPr/>
        </p:nvSpPr>
        <p:spPr>
          <a:xfrm>
            <a:off x="7452360" y="4224528"/>
            <a:ext cx="4190695" cy="822960"/>
          </a:xfrm>
          <a:prstGeom prst="rect">
            <a:avLst/>
          </a:prstGeom>
          <a:noFill/>
          <a:ln/>
        </p:spPr>
        <p:txBody>
          <a:bodyPr wrap="square" lIns="0" tIns="0" rIns="0" bIns="0" rtlCol="0" anchor="t"/>
          <a:lstStyle/>
          <a:p>
            <a:pPr marL="0" indent="0">
              <a:buNone/>
            </a:pPr>
            <a:r>
              <a:rPr lang="en-US" sz="1200" dirty="0">
                <a:solidFill>
                  <a:srgbClr val="3C3C3B"/>
                </a:solidFill>
                <a:latin typeface="Calibri" pitchFamily="34" charset="0"/>
                <a:ea typeface="Calibri" pitchFamily="34" charset="-122"/>
                <a:cs typeface="Calibri" pitchFamily="34" charset="-120"/>
              </a:rPr>
              <a:t>Drill-down Account → LOB → Supervisor → TL → Agent, plus WFH vs WFO by month</a:t>
            </a:r>
            <a:endParaRPr lang="en-US" sz="1200" dirty="0"/>
          </a:p>
        </p:txBody>
      </p:sp>
      <p:sp>
        <p:nvSpPr>
          <p:cNvPr id="12" name="Text 9"/>
          <p:cNvSpPr txBox="1"/>
          <p:nvPr/>
        </p:nvSpPr>
        <p:spPr>
          <a:xfrm>
            <a:off x="7452360" y="5074920"/>
            <a:ext cx="4190695" cy="292608"/>
          </a:xfrm>
          <a:prstGeom prst="rect">
            <a:avLst/>
          </a:prstGeom>
          <a:noFill/>
          <a:ln/>
        </p:spPr>
        <p:txBody>
          <a:bodyPr wrap="square" lIns="0" tIns="0" rIns="0" bIns="0" rtlCol="0" anchor="ctr"/>
          <a:lstStyle/>
          <a:p>
            <a:pPr marL="0" indent="0">
              <a:buNone/>
            </a:pPr>
            <a:r>
              <a:rPr lang="en-US" sz="1500" b="1" dirty="0">
                <a:solidFill>
                  <a:srgbClr val="E00800"/>
                </a:solidFill>
                <a:latin typeface="Calibri" pitchFamily="34" charset="0"/>
                <a:ea typeface="Calibri" pitchFamily="34" charset="-122"/>
                <a:cs typeface="Calibri" pitchFamily="34" charset="-120"/>
              </a:rPr>
              <a:t>Data Notes</a:t>
            </a:r>
            <a:endParaRPr lang="en-US" sz="1500" dirty="0"/>
          </a:p>
        </p:txBody>
      </p:sp>
      <p:sp>
        <p:nvSpPr>
          <p:cNvPr id="13" name="Text 10"/>
          <p:cNvSpPr txBox="1"/>
          <p:nvPr/>
        </p:nvSpPr>
        <p:spPr>
          <a:xfrm>
            <a:off x="7452360" y="5367528"/>
            <a:ext cx="4190695" cy="822960"/>
          </a:xfrm>
          <a:prstGeom prst="rect">
            <a:avLst/>
          </a:prstGeom>
          <a:noFill/>
          <a:ln/>
        </p:spPr>
        <p:txBody>
          <a:bodyPr wrap="square" lIns="0" tIns="0" rIns="0" bIns="0" rtlCol="0" anchor="t"/>
          <a:lstStyle/>
          <a:p>
            <a:pPr marL="0" indent="0">
              <a:buNone/>
            </a:pPr>
            <a:r>
              <a:rPr lang="en-US" sz="1200" dirty="0">
                <a:solidFill>
                  <a:srgbClr val="3C3C3B"/>
                </a:solidFill>
                <a:latin typeface="Calibri" pitchFamily="34" charset="0"/>
                <a:ea typeface="Calibri" pitchFamily="34" charset="-122"/>
                <a:cs typeface="Calibri" pitchFamily="34" charset="-120"/>
              </a:rPr>
              <a:t>Assumptions, star-schema map, live DQ checks, DAX dictionary</a:t>
            </a:r>
            <a:endParaRPr lang="en-US" sz="1200" dirty="0"/>
          </a:p>
        </p:txBody>
      </p:sp>
      <p:sp>
        <p:nvSpPr>
          <p:cNvPr id="15" name="Text 12"/>
          <p:cNvSpPr txBox="1"/>
          <p:nvPr/>
        </p:nvSpPr>
        <p:spPr>
          <a:xfrm>
            <a:off x="11185855" y="6446520"/>
            <a:ext cx="457200" cy="22860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133856" cy="274320"/>
          </a:xfrm>
          <a:prstGeom prst="roundRect">
            <a:avLst>
              <a:gd name="adj" fmla="val 50000"/>
            </a:avLst>
          </a:prstGeom>
          <a:solidFill>
            <a:srgbClr val="FDE3E1"/>
          </a:solidFill>
          <a:ln/>
        </p:spPr>
      </p:sp>
      <p:sp>
        <p:nvSpPr>
          <p:cNvPr id="3" name="Text 1"/>
          <p:cNvSpPr txBox="1"/>
          <p:nvPr/>
        </p:nvSpPr>
        <p:spPr>
          <a:xfrm>
            <a:off x="548640" y="411480"/>
            <a:ext cx="1133856" cy="274320"/>
          </a:xfrm>
          <a:prstGeom prst="rect">
            <a:avLst/>
          </a:prstGeom>
          <a:noFill/>
          <a:ln/>
        </p:spPr>
        <p:txBody>
          <a:bodyPr wrap="square" lIns="0" tIns="0" rIns="0" bIns="0" rtlCol="0" anchor="ctr"/>
          <a:lstStyle/>
          <a:p>
            <a:pPr marL="0" indent="0" algn="ctr">
              <a:buNone/>
            </a:pPr>
            <a:r>
              <a:rPr lang="en-US" sz="1000" b="1" kern="0" spc="100" dirty="0">
                <a:solidFill>
                  <a:srgbClr val="E00800"/>
                </a:solidFill>
                <a:latin typeface="Calibri" pitchFamily="34" charset="0"/>
                <a:ea typeface="Calibri" pitchFamily="34" charset="-122"/>
                <a:cs typeface="Calibri" pitchFamily="34" charset="-120"/>
              </a:rPr>
              <a:t>TRENDS</a:t>
            </a:r>
            <a:endParaRPr lang="en-US" sz="1000" dirty="0"/>
          </a:p>
        </p:txBody>
      </p:sp>
      <p:sp>
        <p:nvSpPr>
          <p:cNvPr id="4" name="Text 2"/>
          <p:cNvSpPr txBox="1"/>
          <p:nvPr/>
        </p:nvSpPr>
        <p:spPr>
          <a:xfrm>
            <a:off x="548640" y="777240"/>
            <a:ext cx="11094415" cy="685800"/>
          </a:xfrm>
          <a:prstGeom prst="rect">
            <a:avLst/>
          </a:prstGeom>
          <a:noFill/>
          <a:ln/>
        </p:spPr>
        <p:txBody>
          <a:bodyPr wrap="square" lIns="0" tIns="0" rIns="0" bIns="0" rtlCol="0" anchor="t"/>
          <a:lstStyle/>
          <a:p>
            <a:pPr marL="0" indent="0">
              <a:buNone/>
            </a:pPr>
            <a:r>
              <a:rPr lang="en-US" sz="3000" b="1" dirty="0">
                <a:solidFill>
                  <a:srgbClr val="1F1F1F"/>
                </a:solidFill>
                <a:latin typeface="Calibri" pitchFamily="34" charset="0"/>
                <a:ea typeface="Calibri" pitchFamily="34" charset="-122"/>
                <a:cs typeface="Calibri" pitchFamily="34" charset="-120"/>
              </a:rPr>
              <a:t>AHT up 78 seconds since May; CSAT slipped in July</a:t>
            </a:r>
            <a:endParaRPr lang="en-US" sz="30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marL="0" indent="0">
              <a:buNone/>
            </a:pPr>
            <a:r>
              <a:rPr lang="en-US" sz="1500" dirty="0">
                <a:solidFill>
                  <a:srgbClr val="6B7280"/>
                </a:solidFill>
                <a:latin typeface="Calibri" pitchFamily="34" charset="0"/>
                <a:ea typeface="Calibri" pitchFamily="34" charset="-122"/>
                <a:cs typeface="Calibri" pitchFamily="34" charset="-120"/>
              </a:rPr>
              <a:t>Longer talk and hold, not after-call work, drive the increase</a:t>
            </a:r>
            <a:endParaRPr lang="en-US" sz="1500" dirty="0"/>
          </a:p>
        </p:txBody>
      </p:sp>
      <p:graphicFrame>
        <p:nvGraphicFramePr>
          <p:cNvPr id="6" name="Chart 0"/>
          <p:cNvGraphicFramePr/>
          <p:nvPr/>
        </p:nvGraphicFramePr>
        <p:xfrm>
          <a:off x="548640" y="2011680"/>
          <a:ext cx="5394960" cy="3749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6217920" y="2011680"/>
          <a:ext cx="5394960" cy="242316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6217920" y="4572000"/>
            <a:ext cx="5394960" cy="1188720"/>
          </a:xfrm>
          <a:prstGeom prst="roundRect">
            <a:avLst>
              <a:gd name="adj" fmla="val 6154"/>
            </a:avLst>
          </a:prstGeom>
          <a:solidFill>
            <a:srgbClr val="FDE3E1"/>
          </a:solidFill>
          <a:ln/>
        </p:spPr>
      </p:sp>
      <p:sp>
        <p:nvSpPr>
          <p:cNvPr id="9" name="Text 5"/>
          <p:cNvSpPr txBox="1"/>
          <p:nvPr/>
        </p:nvSpPr>
        <p:spPr>
          <a:xfrm>
            <a:off x="6446520" y="4663440"/>
            <a:ext cx="4983480" cy="1005840"/>
          </a:xfrm>
          <a:prstGeom prst="rect">
            <a:avLst/>
          </a:prstGeom>
          <a:noFill/>
          <a:ln/>
        </p:spPr>
        <p:txBody>
          <a:bodyPr wrap="square" lIns="0" tIns="0" rIns="0" bIns="0" rtlCol="0" anchor="ctr"/>
          <a:lstStyle/>
          <a:p>
            <a:pPr marL="0" indent="0">
              <a:buNone/>
            </a:pPr>
            <a:r>
              <a:rPr lang="en-US" sz="1200" b="1" dirty="0">
                <a:solidFill>
                  <a:srgbClr val="E00800"/>
                </a:solidFill>
                <a:latin typeface="Calibri" pitchFamily="34" charset="0"/>
                <a:ea typeface="Calibri" pitchFamily="34" charset="-122"/>
                <a:cs typeface="Calibri" pitchFamily="34" charset="-120"/>
              </a:rPr>
              <a:t>Watch-outs  </a:t>
            </a:r>
            <a:r>
              <a:rPr lang="en-US" sz="1200" dirty="0">
                <a:solidFill>
                  <a:srgbClr val="1F1F1F"/>
                </a:solidFill>
                <a:latin typeface="Calibri" pitchFamily="34" charset="0"/>
                <a:ea typeface="Calibri" pitchFamily="34" charset="-122"/>
                <a:cs typeface="Calibri" pitchFamily="34" charset="-120"/>
              </a:rPr>
              <a:t>Week of 28 Jun had the peak AHT (561s) and the lowest full-week CSAT (3.85). Surveys fell 28% from May to July (2,711 → 1,943) while calls held flat, so response rate needs tracking.</a:t>
            </a:r>
            <a:endParaRPr lang="en-US" sz="1200" dirty="0"/>
          </a:p>
        </p:txBody>
      </p:sp>
      <p:sp>
        <p:nvSpPr>
          <p:cNvPr id="11" name="Text 7"/>
          <p:cNvSpPr txBox="1"/>
          <p:nvPr/>
        </p:nvSpPr>
        <p:spPr>
          <a:xfrm>
            <a:off x="11185855" y="6446520"/>
            <a:ext cx="457200" cy="22860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877824" cy="274320"/>
          </a:xfrm>
          <a:prstGeom prst="roundRect">
            <a:avLst>
              <a:gd name="adj" fmla="val 50000"/>
            </a:avLst>
          </a:prstGeom>
          <a:solidFill>
            <a:srgbClr val="FDE3E1"/>
          </a:solidFill>
          <a:ln/>
        </p:spPr>
      </p:sp>
      <p:sp>
        <p:nvSpPr>
          <p:cNvPr id="3" name="Text 1"/>
          <p:cNvSpPr txBox="1"/>
          <p:nvPr/>
        </p:nvSpPr>
        <p:spPr>
          <a:xfrm>
            <a:off x="548640" y="411480"/>
            <a:ext cx="877824" cy="274320"/>
          </a:xfrm>
          <a:prstGeom prst="rect">
            <a:avLst/>
          </a:prstGeom>
          <a:noFill/>
          <a:ln/>
        </p:spPr>
        <p:txBody>
          <a:bodyPr wrap="square" lIns="0" tIns="0" rIns="0" bIns="0" rtlCol="0" anchor="ctr"/>
          <a:lstStyle/>
          <a:p>
            <a:pPr marL="0" indent="0" algn="ctr">
              <a:buNone/>
            </a:pPr>
            <a:r>
              <a:rPr lang="en-US" sz="1000" b="1" kern="0" spc="100" dirty="0">
                <a:solidFill>
                  <a:srgbClr val="E00800"/>
                </a:solidFill>
                <a:latin typeface="Calibri" pitchFamily="34" charset="0"/>
                <a:ea typeface="Calibri" pitchFamily="34" charset="-122"/>
                <a:cs typeface="Calibri" pitchFamily="34" charset="-120"/>
              </a:rPr>
              <a:t>CSAT</a:t>
            </a:r>
            <a:endParaRPr lang="en-US" sz="1000" dirty="0"/>
          </a:p>
        </p:txBody>
      </p:sp>
      <p:sp>
        <p:nvSpPr>
          <p:cNvPr id="4" name="Text 2"/>
          <p:cNvSpPr txBox="1"/>
          <p:nvPr/>
        </p:nvSpPr>
        <p:spPr>
          <a:xfrm>
            <a:off x="548640" y="777240"/>
            <a:ext cx="11094415" cy="685800"/>
          </a:xfrm>
          <a:prstGeom prst="rect">
            <a:avLst/>
          </a:prstGeom>
          <a:noFill/>
          <a:ln/>
        </p:spPr>
        <p:txBody>
          <a:bodyPr wrap="square" lIns="0" tIns="0" rIns="0" bIns="0" rtlCol="0" anchor="t"/>
          <a:lstStyle/>
          <a:p>
            <a:pPr marL="0" indent="0">
              <a:buNone/>
            </a:pPr>
            <a:r>
              <a:rPr lang="en-US" sz="3000" b="1" dirty="0">
                <a:solidFill>
                  <a:srgbClr val="1F1F1F"/>
                </a:solidFill>
                <a:latin typeface="Calibri" pitchFamily="34" charset="0"/>
                <a:ea typeface="Calibri" pitchFamily="34" charset="-122"/>
                <a:cs typeface="Calibri" pitchFamily="34" charset="-120"/>
              </a:rPr>
              <a:t>CSAT is polarised: fixing the 1-scores is the biggest lever</a:t>
            </a:r>
            <a:endParaRPr lang="en-US" sz="30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marL="0" indent="0">
              <a:buNone/>
            </a:pPr>
            <a:r>
              <a:rPr lang="en-US" sz="1500" dirty="0">
                <a:solidFill>
                  <a:srgbClr val="6B7280"/>
                </a:solidFill>
                <a:latin typeface="Calibri" pitchFamily="34" charset="0"/>
                <a:ea typeface="Calibri" pitchFamily="34" charset="-122"/>
                <a:cs typeface="Calibri" pitchFamily="34" charset="-120"/>
              </a:rPr>
              <a:t>Score distribution, all 6,914 surveys</a:t>
            </a:r>
            <a:endParaRPr lang="en-US" sz="1500" dirty="0"/>
          </a:p>
        </p:txBody>
      </p:sp>
      <p:graphicFrame>
        <p:nvGraphicFramePr>
          <p:cNvPr id="6" name="Chart 0"/>
          <p:cNvGraphicFramePr/>
          <p:nvPr/>
        </p:nvGraphicFramePr>
        <p:xfrm>
          <a:off x="548640" y="1920240"/>
          <a:ext cx="60350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949440" y="1920240"/>
            <a:ext cx="2255368" cy="1234440"/>
          </a:xfrm>
          <a:prstGeom prst="roundRect">
            <a:avLst>
              <a:gd name="adj" fmla="val 5926"/>
            </a:avLst>
          </a:prstGeom>
          <a:solidFill>
            <a:srgbClr val="F4F5F7"/>
          </a:solidFill>
          <a:ln/>
        </p:spPr>
      </p:sp>
      <p:sp>
        <p:nvSpPr>
          <p:cNvPr id="8" name="Text 5"/>
          <p:cNvSpPr txBox="1"/>
          <p:nvPr/>
        </p:nvSpPr>
        <p:spPr>
          <a:xfrm>
            <a:off x="7178040" y="2057400"/>
            <a:ext cx="1889608" cy="640080"/>
          </a:xfrm>
          <a:prstGeom prst="rect">
            <a:avLst/>
          </a:prstGeom>
          <a:noFill/>
          <a:ln/>
        </p:spPr>
        <p:txBody>
          <a:bodyPr wrap="square" lIns="0" tIns="0" rIns="0" bIns="0" rtlCol="0" anchor="ctr"/>
          <a:lstStyle/>
          <a:p>
            <a:pPr marL="0" indent="0">
              <a:buNone/>
            </a:pPr>
            <a:r>
              <a:rPr lang="en-US" sz="3600" b="1" dirty="0">
                <a:solidFill>
                  <a:srgbClr val="1F1F1F"/>
                </a:solidFill>
                <a:latin typeface="Calibri" pitchFamily="34" charset="0"/>
                <a:ea typeface="Calibri" pitchFamily="34" charset="-122"/>
                <a:cs typeface="Calibri" pitchFamily="34" charset="-120"/>
              </a:rPr>
              <a:t>4.40</a:t>
            </a:r>
            <a:endParaRPr lang="en-US" sz="3600" dirty="0"/>
          </a:p>
        </p:txBody>
      </p:sp>
      <p:sp>
        <p:nvSpPr>
          <p:cNvPr id="9" name="Text 6"/>
          <p:cNvSpPr txBox="1"/>
          <p:nvPr/>
        </p:nvSpPr>
        <p:spPr>
          <a:xfrm>
            <a:off x="7178040" y="2697480"/>
            <a:ext cx="1889608"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Courtesy &amp; politeness</a:t>
            </a:r>
            <a:endParaRPr lang="en-US" sz="1200" dirty="0"/>
          </a:p>
        </p:txBody>
      </p:sp>
      <p:sp>
        <p:nvSpPr>
          <p:cNvPr id="10" name="Shape 7"/>
          <p:cNvSpPr/>
          <p:nvPr/>
        </p:nvSpPr>
        <p:spPr>
          <a:xfrm>
            <a:off x="9387688" y="1920240"/>
            <a:ext cx="2255368" cy="1234440"/>
          </a:xfrm>
          <a:prstGeom prst="roundRect">
            <a:avLst>
              <a:gd name="adj" fmla="val 5926"/>
            </a:avLst>
          </a:prstGeom>
          <a:solidFill>
            <a:srgbClr val="FDE3E1"/>
          </a:solidFill>
          <a:ln/>
        </p:spPr>
      </p:sp>
      <p:sp>
        <p:nvSpPr>
          <p:cNvPr id="11" name="Text 8"/>
          <p:cNvSpPr txBox="1"/>
          <p:nvPr/>
        </p:nvSpPr>
        <p:spPr>
          <a:xfrm>
            <a:off x="9616288" y="2057400"/>
            <a:ext cx="1889608" cy="640080"/>
          </a:xfrm>
          <a:prstGeom prst="rect">
            <a:avLst/>
          </a:prstGeom>
          <a:noFill/>
          <a:ln/>
        </p:spPr>
        <p:txBody>
          <a:bodyPr wrap="square" lIns="0" tIns="0" rIns="0" bIns="0" rtlCol="0" anchor="ctr"/>
          <a:lstStyle/>
          <a:p>
            <a:pPr marL="0" indent="0">
              <a:buNone/>
            </a:pPr>
            <a:r>
              <a:rPr lang="en-US" sz="3600" b="1" dirty="0">
                <a:solidFill>
                  <a:srgbClr val="E00800"/>
                </a:solidFill>
                <a:latin typeface="Calibri" pitchFamily="34" charset="0"/>
                <a:ea typeface="Calibri" pitchFamily="34" charset="-122"/>
                <a:cs typeface="Calibri" pitchFamily="34" charset="-120"/>
              </a:rPr>
              <a:t>4.05</a:t>
            </a:r>
            <a:endParaRPr lang="en-US" sz="3600" dirty="0"/>
          </a:p>
        </p:txBody>
      </p:sp>
      <p:sp>
        <p:nvSpPr>
          <p:cNvPr id="12" name="Text 9"/>
          <p:cNvSpPr txBox="1"/>
          <p:nvPr/>
        </p:nvSpPr>
        <p:spPr>
          <a:xfrm>
            <a:off x="9616288" y="2697480"/>
            <a:ext cx="1889608"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Knowledge</a:t>
            </a:r>
            <a:endParaRPr lang="en-US" sz="1200" dirty="0"/>
          </a:p>
        </p:txBody>
      </p:sp>
      <p:sp>
        <p:nvSpPr>
          <p:cNvPr id="13" name="Text 10"/>
          <p:cNvSpPr txBox="1"/>
          <p:nvPr/>
        </p:nvSpPr>
        <p:spPr>
          <a:xfrm>
            <a:off x="6949440" y="3429000"/>
            <a:ext cx="4693615" cy="274320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F1F1F"/>
                </a:solidFill>
                <a:latin typeface="Calibri" pitchFamily="34" charset="0"/>
                <a:ea typeface="Calibri" pitchFamily="34" charset="-122"/>
                <a:cs typeface="Calibri" pitchFamily="34" charset="-120"/>
              </a:rPr>
              <a:t>Few customers are neutral: </a:t>
            </a:r>
            <a:r>
              <a:rPr lang="en-US" sz="1300" dirty="0">
                <a:solidFill>
                  <a:srgbClr val="1F1F1F"/>
                </a:solidFill>
                <a:latin typeface="Calibri" pitchFamily="34" charset="0"/>
                <a:ea typeface="Calibri" pitchFamily="34" charset="-122"/>
                <a:cs typeface="Calibri" pitchFamily="34" charset="-120"/>
              </a:rPr>
              <a:t>only 3.5% score 3. Customers are either delighted or not resolved.</a:t>
            </a:r>
            <a:endParaRPr lang="en-US" sz="1300" dirty="0"/>
          </a:p>
          <a:p>
            <a:pPr marL="203200" indent="-203200">
              <a:spcAft>
                <a:spcPts val="800"/>
              </a:spcAft>
              <a:buSzPct val="100000"/>
              <a:buChar char="•"/>
            </a:pPr>
            <a:r>
              <a:rPr lang="en-US" sz="1300" b="1" dirty="0">
                <a:solidFill>
                  <a:srgbClr val="1F1F1F"/>
                </a:solidFill>
                <a:latin typeface="Calibri" pitchFamily="34" charset="0"/>
                <a:ea typeface="Calibri" pitchFamily="34" charset="-122"/>
                <a:cs typeface="Calibri" pitchFamily="34" charset="-120"/>
              </a:rPr>
              <a:t>Moving half the 1-scores to 4 </a:t>
            </a:r>
            <a:r>
              <a:rPr lang="en-US" sz="1300" dirty="0">
                <a:solidFill>
                  <a:srgbClr val="1F1F1F"/>
                </a:solidFill>
                <a:latin typeface="Calibri" pitchFamily="34" charset="0"/>
                <a:ea typeface="Calibri" pitchFamily="34" charset="-122"/>
                <a:cs typeface="Calibri" pitchFamily="34" charset="-120"/>
              </a:rPr>
              <a:t>would lift Avg CSAT from 4.01 to about 4.28.</a:t>
            </a:r>
            <a:endParaRPr lang="en-US" sz="1300" dirty="0"/>
          </a:p>
          <a:p>
            <a:pPr marL="203200" indent="-203200">
              <a:spcAft>
                <a:spcPts val="800"/>
              </a:spcAft>
              <a:buSzPct val="100000"/>
              <a:buChar char="•"/>
            </a:pPr>
            <a:r>
              <a:rPr lang="en-US" sz="1300" b="1" dirty="0">
                <a:solidFill>
                  <a:srgbClr val="1F1F1F"/>
                </a:solidFill>
                <a:latin typeface="Calibri" pitchFamily="34" charset="0"/>
                <a:ea typeface="Calibri" pitchFamily="34" charset="-122"/>
                <a:cs typeface="Calibri" pitchFamily="34" charset="-120"/>
              </a:rPr>
              <a:t>Knowledge is the weaker driver </a:t>
            </a:r>
            <a:r>
              <a:rPr lang="en-US" sz="1300" dirty="0">
                <a:solidFill>
                  <a:srgbClr val="1F1F1F"/>
                </a:solidFill>
                <a:latin typeface="Calibri" pitchFamily="34" charset="0"/>
                <a:ea typeface="Calibri" pitchFamily="34" charset="-122"/>
                <a:cs typeface="Calibri" pitchFamily="34" charset="-120"/>
              </a:rPr>
              <a:t>(0.35 below courtesy). It points to product and process training, not soft skills.</a:t>
            </a:r>
            <a:endParaRPr lang="en-US" sz="1300" dirty="0"/>
          </a:p>
          <a:p>
            <a:pPr marL="203200" indent="-203200">
              <a:spcAft>
                <a:spcPts val="800"/>
              </a:spcAft>
              <a:buSzPct val="100000"/>
              <a:buChar char="•"/>
            </a:pPr>
            <a:r>
              <a:rPr lang="en-US" sz="1300" b="1" dirty="0">
                <a:solidFill>
                  <a:srgbClr val="1F1F1F"/>
                </a:solidFill>
                <a:latin typeface="Calibri" pitchFamily="34" charset="0"/>
                <a:ea typeface="Calibri" pitchFamily="34" charset="-122"/>
                <a:cs typeface="Calibri" pitchFamily="34" charset="-120"/>
              </a:rPr>
              <a:t>DSAT is spread out: </a:t>
            </a:r>
            <a:r>
              <a:rPr lang="en-US" sz="1300" dirty="0">
                <a:solidFill>
                  <a:srgbClr val="1F1F1F"/>
                </a:solidFill>
                <a:latin typeface="Calibri" pitchFamily="34" charset="0"/>
                <a:ea typeface="Calibri" pitchFamily="34" charset="-122"/>
                <a:cs typeface="Calibri" pitchFamily="34" charset="-120"/>
              </a:rPr>
              <a:t>the top 20% of agents with DSAT account for 42% of 1-2 scores.</a:t>
            </a:r>
            <a:endParaRPr lang="en-US" sz="1300" dirty="0"/>
          </a:p>
        </p:txBody>
      </p:sp>
      <p:sp>
        <p:nvSpPr>
          <p:cNvPr id="15" name="Text 12"/>
          <p:cNvSpPr txBox="1"/>
          <p:nvPr/>
        </p:nvSpPr>
        <p:spPr>
          <a:xfrm>
            <a:off x="11185855" y="6446520"/>
            <a:ext cx="457200" cy="22860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005840" cy="274320"/>
          </a:xfrm>
          <a:prstGeom prst="roundRect">
            <a:avLst>
              <a:gd name="adj" fmla="val 50000"/>
            </a:avLst>
          </a:prstGeom>
          <a:solidFill>
            <a:srgbClr val="FDE3E1"/>
          </a:solidFill>
          <a:ln/>
        </p:spPr>
      </p:sp>
      <p:sp>
        <p:nvSpPr>
          <p:cNvPr id="3" name="Text 1"/>
          <p:cNvSpPr txBox="1"/>
          <p:nvPr/>
        </p:nvSpPr>
        <p:spPr>
          <a:xfrm>
            <a:off x="548640" y="411480"/>
            <a:ext cx="1005840" cy="274320"/>
          </a:xfrm>
          <a:prstGeom prst="rect">
            <a:avLst/>
          </a:prstGeom>
          <a:noFill/>
          <a:ln/>
        </p:spPr>
        <p:txBody>
          <a:bodyPr wrap="square" lIns="0" tIns="0" rIns="0" bIns="0" rtlCol="0" anchor="ctr"/>
          <a:lstStyle/>
          <a:p>
            <a:pPr marL="0" indent="0" algn="ctr">
              <a:buNone/>
            </a:pPr>
            <a:r>
              <a:rPr lang="en-US" sz="1000" b="1" kern="0" spc="100" dirty="0">
                <a:solidFill>
                  <a:srgbClr val="E00800"/>
                </a:solidFill>
                <a:latin typeface="Calibri" pitchFamily="34" charset="0"/>
                <a:ea typeface="Calibri" pitchFamily="34" charset="-122"/>
                <a:cs typeface="Calibri" pitchFamily="34" charset="-120"/>
              </a:rPr>
              <a:t>TEAMS</a:t>
            </a:r>
            <a:endParaRPr lang="en-US" sz="1000" dirty="0"/>
          </a:p>
        </p:txBody>
      </p:sp>
      <p:sp>
        <p:nvSpPr>
          <p:cNvPr id="4" name="Text 2"/>
          <p:cNvSpPr txBox="1"/>
          <p:nvPr/>
        </p:nvSpPr>
        <p:spPr>
          <a:xfrm>
            <a:off x="548640" y="777240"/>
            <a:ext cx="11094415" cy="685800"/>
          </a:xfrm>
          <a:prstGeom prst="rect">
            <a:avLst/>
          </a:prstGeom>
          <a:noFill/>
          <a:ln/>
        </p:spPr>
        <p:txBody>
          <a:bodyPr wrap="square" lIns="0" tIns="0" rIns="0" bIns="0" rtlCol="0" anchor="t"/>
          <a:lstStyle/>
          <a:p>
            <a:pPr marL="0" indent="0">
              <a:buNone/>
            </a:pPr>
            <a:r>
              <a:rPr lang="en-US" sz="3000" b="1" dirty="0">
                <a:solidFill>
                  <a:srgbClr val="1F1F1F"/>
                </a:solidFill>
                <a:latin typeface="Calibri" pitchFamily="34" charset="0"/>
                <a:ea typeface="Calibri" pitchFamily="34" charset="-122"/>
                <a:cs typeface="Calibri" pitchFamily="34" charset="-120"/>
              </a:rPr>
              <a:t>Supervisor 3's teams trail on both CSAT and AHT</a:t>
            </a:r>
            <a:endParaRPr lang="en-US" sz="30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marL="0" indent="0">
              <a:buNone/>
            </a:pPr>
            <a:r>
              <a:rPr lang="en-US" sz="1500" dirty="0">
                <a:solidFill>
                  <a:srgbClr val="6B7280"/>
                </a:solidFill>
                <a:latin typeface="Calibri" pitchFamily="34" charset="0"/>
                <a:ea typeface="Calibri" pitchFamily="34" charset="-122"/>
                <a:cs typeface="Calibri" pitchFamily="34" charset="-120"/>
              </a:rPr>
              <a:t>Talk + hold per call by supervisor (seconds): hold is the clearest difference</a:t>
            </a:r>
            <a:endParaRPr lang="en-US" sz="1500" dirty="0"/>
          </a:p>
        </p:txBody>
      </p:sp>
      <p:graphicFrame>
        <p:nvGraphicFramePr>
          <p:cNvPr id="6" name="Chart 0"/>
          <p:cNvGraphicFramePr/>
          <p:nvPr/>
        </p:nvGraphicFramePr>
        <p:xfrm>
          <a:off x="548640" y="1920240"/>
          <a:ext cx="6400800" cy="3291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0" y="2011680"/>
          <a:ext cx="4343400" cy="1389888"/>
        </p:xfrm>
        <a:graphic>
          <a:graphicData uri="http://schemas.openxmlformats.org/drawingml/2006/table">
            <a:tbl>
              <a:tblPr/>
              <a:tblGrid>
                <a:gridCol w="16002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Supervisor</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C3C3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Avg CSAT</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C3C3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DSAT %</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C3C3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AHT (s)</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C3C3B"/>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1F1F1F"/>
                          </a:solidFill>
                          <a:latin typeface="Calibri" pitchFamily="34" charset="0"/>
                          <a:ea typeface="Calibri" pitchFamily="34" charset="-122"/>
                          <a:cs typeface="Calibri" pitchFamily="34" charset="-120"/>
                        </a:rPr>
                        <a:t>Supervisor 1</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F1F1F"/>
                          </a:solidFill>
                          <a:latin typeface="Calibri" pitchFamily="34" charset="0"/>
                          <a:ea typeface="Calibri" pitchFamily="34" charset="-122"/>
                          <a:cs typeface="Calibri" pitchFamily="34" charset="-120"/>
                        </a:rPr>
                        <a:t>4.06</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F1F1F"/>
                          </a:solidFill>
                          <a:latin typeface="Calibri" pitchFamily="34" charset="0"/>
                          <a:ea typeface="Calibri" pitchFamily="34" charset="-122"/>
                          <a:cs typeface="Calibri" pitchFamily="34" charset="-120"/>
                        </a:rPr>
                        <a:t>20.3%</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F1F1F"/>
                          </a:solidFill>
                          <a:latin typeface="Calibri" pitchFamily="34" charset="0"/>
                          <a:ea typeface="Calibri" pitchFamily="34" charset="-122"/>
                          <a:cs typeface="Calibri" pitchFamily="34" charset="-120"/>
                        </a:rPr>
                        <a:t>403</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200" dirty="0">
                          <a:solidFill>
                            <a:srgbClr val="1F1F1F"/>
                          </a:solidFill>
                          <a:latin typeface="Calibri" pitchFamily="34" charset="0"/>
                          <a:ea typeface="Calibri" pitchFamily="34" charset="-122"/>
                          <a:cs typeface="Calibri" pitchFamily="34" charset="-120"/>
                        </a:rPr>
                        <a:t>Supervisor 2</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F1F1F"/>
                          </a:solidFill>
                          <a:latin typeface="Calibri" pitchFamily="34" charset="0"/>
                          <a:ea typeface="Calibri" pitchFamily="34" charset="-122"/>
                          <a:cs typeface="Calibri" pitchFamily="34" charset="-120"/>
                        </a:rPr>
                        <a:t>4.08</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F1F1F"/>
                          </a:solidFill>
                          <a:latin typeface="Calibri" pitchFamily="34" charset="0"/>
                          <a:ea typeface="Calibri" pitchFamily="34" charset="-122"/>
                          <a:cs typeface="Calibri" pitchFamily="34" charset="-120"/>
                        </a:rPr>
                        <a:t>17.9%</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F1F1F"/>
                          </a:solidFill>
                          <a:latin typeface="Calibri" pitchFamily="34" charset="0"/>
                          <a:ea typeface="Calibri" pitchFamily="34" charset="-122"/>
                          <a:cs typeface="Calibri" pitchFamily="34" charset="-120"/>
                        </a:rPr>
                        <a:t>458</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200" b="1" dirty="0">
                          <a:solidFill>
                            <a:srgbClr val="E00800"/>
                          </a:solidFill>
                          <a:latin typeface="Calibri" pitchFamily="34" charset="0"/>
                          <a:ea typeface="Calibri" pitchFamily="34" charset="-122"/>
                          <a:cs typeface="Calibri" pitchFamily="34" charset="-120"/>
                        </a:rPr>
                        <a:t>Supervisor 3</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b="1" dirty="0">
                          <a:solidFill>
                            <a:srgbClr val="E00800"/>
                          </a:solidFill>
                          <a:latin typeface="Calibri" pitchFamily="34" charset="0"/>
                          <a:ea typeface="Calibri" pitchFamily="34" charset="-122"/>
                          <a:cs typeface="Calibri" pitchFamily="34" charset="-120"/>
                        </a:rPr>
                        <a:t>3.88</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b="1" dirty="0">
                          <a:solidFill>
                            <a:srgbClr val="E00800"/>
                          </a:solidFill>
                          <a:latin typeface="Calibri" pitchFamily="34" charset="0"/>
                          <a:ea typeface="Calibri" pitchFamily="34" charset="-122"/>
                          <a:cs typeface="Calibri" pitchFamily="34" charset="-120"/>
                        </a:rPr>
                        <a:t>23.7%</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b="1" dirty="0">
                          <a:solidFill>
                            <a:srgbClr val="E00800"/>
                          </a:solidFill>
                          <a:latin typeface="Calibri" pitchFamily="34" charset="0"/>
                          <a:ea typeface="Calibri" pitchFamily="34" charset="-122"/>
                          <a:cs typeface="Calibri" pitchFamily="34" charset="-120"/>
                        </a:rPr>
                        <a:t>597</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txBox="1"/>
          <p:nvPr/>
        </p:nvSpPr>
        <p:spPr>
          <a:xfrm>
            <a:off x="7315200" y="3703320"/>
            <a:ext cx="4327855" cy="2377440"/>
          </a:xfrm>
          <a:prstGeom prst="rect">
            <a:avLst/>
          </a:prstGeom>
          <a:noFill/>
          <a:ln/>
        </p:spPr>
        <p:txBody>
          <a:bodyPr wrap="square" lIns="0" tIns="0" rIns="0" bIns="0" rtlCol="0" anchor="t"/>
          <a:lstStyle/>
          <a:p>
            <a:pPr marL="203200" indent="-203200">
              <a:spcAft>
                <a:spcPts val="800"/>
              </a:spcAft>
              <a:buSzPct val="100000"/>
              <a:buChar char="•"/>
            </a:pPr>
            <a:r>
              <a:rPr lang="en-US" sz="1250" b="1" dirty="0">
                <a:solidFill>
                  <a:srgbClr val="1F1F1F"/>
                </a:solidFill>
                <a:latin typeface="Calibri" pitchFamily="34" charset="0"/>
                <a:ea typeface="Calibri" pitchFamily="34" charset="-122"/>
                <a:cs typeface="Calibri" pitchFamily="34" charset="-120"/>
              </a:rPr>
              <a:t>Hold is 71s per call, </a:t>
            </a:r>
            <a:r>
              <a:rPr lang="en-US" sz="1250" dirty="0">
                <a:solidFill>
                  <a:srgbClr val="1F1F1F"/>
                </a:solidFill>
                <a:latin typeface="Calibri" pitchFamily="34" charset="0"/>
                <a:ea typeface="Calibri" pitchFamily="34" charset="-122"/>
                <a:cs typeface="Calibri" pitchFamily="34" charset="-120"/>
              </a:rPr>
              <a:t>3× Supervisor 1. AHT jumped 508 → 655s in June.</a:t>
            </a:r>
            <a:endParaRPr lang="en-US" sz="1250" dirty="0"/>
          </a:p>
          <a:p>
            <a:pPr marL="203200" indent="-203200">
              <a:spcAft>
                <a:spcPts val="800"/>
              </a:spcAft>
              <a:buSzPct val="100000"/>
              <a:buChar char="•"/>
            </a:pPr>
            <a:r>
              <a:rPr lang="en-US" sz="1250" b="1" dirty="0">
                <a:solidFill>
                  <a:srgbClr val="1F1F1F"/>
                </a:solidFill>
                <a:latin typeface="Calibri" pitchFamily="34" charset="0"/>
                <a:ea typeface="Calibri" pitchFamily="34" charset="-122"/>
                <a:cs typeface="Calibri" pitchFamily="34" charset="-120"/>
              </a:rPr>
              <a:t>Bringing hold down to 25s </a:t>
            </a:r>
            <a:r>
              <a:rPr lang="en-US" sz="1250" dirty="0">
                <a:solidFill>
                  <a:srgbClr val="1F1F1F"/>
                </a:solidFill>
                <a:latin typeface="Calibri" pitchFamily="34" charset="0"/>
                <a:ea typeface="Calibri" pitchFamily="34" charset="-122"/>
                <a:cs typeface="Calibri" pitchFamily="34" charset="-120"/>
              </a:rPr>
              <a:t>saves ~46s per call, about 1,970 agent-hours a quarter.</a:t>
            </a:r>
            <a:endParaRPr lang="en-US" sz="1250" dirty="0"/>
          </a:p>
          <a:p>
            <a:pPr marL="203200" indent="-203200">
              <a:spcAft>
                <a:spcPts val="800"/>
              </a:spcAft>
              <a:buSzPct val="100000"/>
              <a:buChar char="•"/>
            </a:pPr>
            <a:r>
              <a:rPr lang="en-US" sz="1250" b="1" dirty="0">
                <a:solidFill>
                  <a:srgbClr val="1F1F1F"/>
                </a:solidFill>
                <a:latin typeface="Calibri" pitchFamily="34" charset="0"/>
                <a:ea typeface="Calibri" pitchFamily="34" charset="-122"/>
                <a:cs typeface="Calibri" pitchFamily="34" charset="-120"/>
              </a:rPr>
              <a:t>Supervisor 3's CSAT is recovering </a:t>
            </a:r>
            <a:r>
              <a:rPr lang="en-US" sz="1250" dirty="0">
                <a:solidFill>
                  <a:srgbClr val="1F1F1F"/>
                </a:solidFill>
                <a:latin typeface="Calibri" pitchFamily="34" charset="0"/>
                <a:ea typeface="Calibri" pitchFamily="34" charset="-122"/>
                <a:cs typeface="Calibri" pitchFamily="34" charset="-120"/>
              </a:rPr>
              <a:t>(3.83 → 3.95) while Supervisor 1 declines (4.15 → 3.95).</a:t>
            </a:r>
            <a:endParaRPr lang="en-US" sz="1250" dirty="0"/>
          </a:p>
        </p:txBody>
      </p:sp>
      <p:sp>
        <p:nvSpPr>
          <p:cNvPr id="10" name="Text 6"/>
          <p:cNvSpPr txBox="1"/>
          <p:nvPr/>
        </p:nvSpPr>
        <p:spPr>
          <a:xfrm>
            <a:off x="11185855" y="6446520"/>
            <a:ext cx="457200" cy="22860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901952" cy="274320"/>
          </a:xfrm>
          <a:prstGeom prst="roundRect">
            <a:avLst>
              <a:gd name="adj" fmla="val 50000"/>
            </a:avLst>
          </a:prstGeom>
          <a:solidFill>
            <a:srgbClr val="FDE3E1"/>
          </a:solidFill>
          <a:ln/>
        </p:spPr>
      </p:sp>
      <p:sp>
        <p:nvSpPr>
          <p:cNvPr id="3" name="Text 1"/>
          <p:cNvSpPr txBox="1"/>
          <p:nvPr/>
        </p:nvSpPr>
        <p:spPr>
          <a:xfrm>
            <a:off x="548640" y="411480"/>
            <a:ext cx="1901952" cy="274320"/>
          </a:xfrm>
          <a:prstGeom prst="rect">
            <a:avLst/>
          </a:prstGeom>
          <a:noFill/>
          <a:ln/>
        </p:spPr>
        <p:txBody>
          <a:bodyPr wrap="square" lIns="0" tIns="0" rIns="0" bIns="0" rtlCol="0" anchor="ctr"/>
          <a:lstStyle/>
          <a:p>
            <a:pPr marL="0" indent="0" algn="ctr">
              <a:buNone/>
            </a:pPr>
            <a:r>
              <a:rPr lang="en-US" sz="1000" b="1" kern="0" spc="100" dirty="0">
                <a:solidFill>
                  <a:srgbClr val="E00800"/>
                </a:solidFill>
                <a:latin typeface="Calibri" pitchFamily="34" charset="0"/>
                <a:ea typeface="Calibri" pitchFamily="34" charset="-122"/>
                <a:cs typeface="Calibri" pitchFamily="34" charset="-120"/>
              </a:rPr>
              <a:t>TEAM LEADERS</a:t>
            </a:r>
            <a:endParaRPr lang="en-US" sz="1000" dirty="0"/>
          </a:p>
        </p:txBody>
      </p:sp>
      <p:sp>
        <p:nvSpPr>
          <p:cNvPr id="4" name="Text 2"/>
          <p:cNvSpPr txBox="1"/>
          <p:nvPr/>
        </p:nvSpPr>
        <p:spPr>
          <a:xfrm>
            <a:off x="548640" y="777240"/>
            <a:ext cx="11094415" cy="685800"/>
          </a:xfrm>
          <a:prstGeom prst="rect">
            <a:avLst/>
          </a:prstGeom>
          <a:noFill/>
          <a:ln/>
        </p:spPr>
        <p:txBody>
          <a:bodyPr wrap="square" lIns="0" tIns="0" rIns="0" bIns="0" rtlCol="0" anchor="t"/>
          <a:lstStyle/>
          <a:p>
            <a:pPr marL="0" indent="0">
              <a:buNone/>
            </a:pPr>
            <a:r>
              <a:rPr lang="en-US" sz="3000" b="1" dirty="0">
                <a:solidFill>
                  <a:srgbClr val="1F1F1F"/>
                </a:solidFill>
                <a:latin typeface="Calibri" pitchFamily="34" charset="0"/>
                <a:ea typeface="Calibri" pitchFamily="34" charset="-122"/>
                <a:cs typeface="Calibri" pitchFamily="34" charset="-120"/>
              </a:rPr>
              <a:t>A 2× spread in AHT between Team Leaders</a:t>
            </a:r>
            <a:endParaRPr lang="en-US" sz="30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marL="0" indent="0">
              <a:buNone/>
            </a:pPr>
            <a:r>
              <a:rPr lang="en-US" sz="1500" dirty="0">
                <a:solidFill>
                  <a:srgbClr val="6B7280"/>
                </a:solidFill>
                <a:latin typeface="Calibri" pitchFamily="34" charset="0"/>
                <a:ea typeface="Calibri" pitchFamily="34" charset="-122"/>
                <a:cs typeface="Calibri" pitchFamily="34" charset="-120"/>
              </a:rPr>
              <a:t>Team Leaders with 100+ surveys: CSAT and AHT (seconds), with hold per call</a:t>
            </a:r>
            <a:endParaRPr lang="en-US" sz="1500" dirty="0"/>
          </a:p>
        </p:txBody>
      </p:sp>
      <p:sp>
        <p:nvSpPr>
          <p:cNvPr id="6" name="Text 4"/>
          <p:cNvSpPr txBox="1"/>
          <p:nvPr/>
        </p:nvSpPr>
        <p:spPr>
          <a:xfrm>
            <a:off x="548640" y="1965960"/>
            <a:ext cx="5318608" cy="320040"/>
          </a:xfrm>
          <a:prstGeom prst="rect">
            <a:avLst/>
          </a:prstGeom>
          <a:noFill/>
          <a:ln/>
        </p:spPr>
        <p:txBody>
          <a:bodyPr wrap="square" lIns="0" tIns="0" rIns="0" bIns="0" rtlCol="0" anchor="ctr"/>
          <a:lstStyle/>
          <a:p>
            <a:pPr marL="0" indent="0">
              <a:buNone/>
            </a:pPr>
            <a:r>
              <a:rPr lang="en-US" sz="1600" b="1" dirty="0">
                <a:solidFill>
                  <a:srgbClr val="2E7D32"/>
                </a:solidFill>
                <a:latin typeface="Calibri" pitchFamily="34" charset="0"/>
                <a:ea typeface="Calibri" pitchFamily="34" charset="-122"/>
                <a:cs typeface="Calibri" pitchFamily="34" charset="-120"/>
              </a:rPr>
              <a:t>Highest CSAT</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5394960" cy="2194560"/>
        </p:xfrm>
        <a:graphic>
          <a:graphicData uri="http://schemas.openxmlformats.org/drawingml/2006/table">
            <a:tbl>
              <a:tblPr/>
              <a:tblGrid>
                <a:gridCol w="23774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6576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Team Leader</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C3C3B"/>
                    </a:solidFill>
                  </a:tcPr>
                </a:tc>
                <a:tc>
                  <a:txBody>
                    <a:bodyPr/>
                    <a:lstStyle/>
                    <a:p>
                      <a:pPr marL="0" indent="0" algn="r">
                        <a:buNone/>
                      </a:pPr>
                      <a:r>
                        <a:rPr lang="en-US" sz="1300" b="1" dirty="0">
                          <a:solidFill>
                            <a:srgbClr val="FFFFFF"/>
                          </a:solidFill>
                          <a:latin typeface="Calibri" pitchFamily="34" charset="0"/>
                          <a:ea typeface="Calibri" pitchFamily="34" charset="-122"/>
                          <a:cs typeface="Calibri" pitchFamily="34" charset="-120"/>
                        </a:rPr>
                        <a:t>CSAT</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C3C3B"/>
                    </a:solidFill>
                  </a:tcPr>
                </a:tc>
                <a:tc>
                  <a:txBody>
                    <a:bodyPr/>
                    <a:lstStyle/>
                    <a:p>
                      <a:pPr marL="0" indent="0" algn="r">
                        <a:buNone/>
                      </a:pPr>
                      <a:r>
                        <a:rPr lang="en-US" sz="1300" b="1" dirty="0">
                          <a:solidFill>
                            <a:srgbClr val="FFFFFF"/>
                          </a:solidFill>
                          <a:latin typeface="Calibri" pitchFamily="34" charset="0"/>
                          <a:ea typeface="Calibri" pitchFamily="34" charset="-122"/>
                          <a:cs typeface="Calibri" pitchFamily="34" charset="-120"/>
                        </a:rPr>
                        <a:t>AHT</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C3C3B"/>
                    </a:solidFill>
                  </a:tcPr>
                </a:tc>
                <a:tc>
                  <a:txBody>
                    <a:bodyPr/>
                    <a:lstStyle/>
                    <a:p>
                      <a:pPr marL="0" indent="0" algn="r">
                        <a:buNone/>
                      </a:pPr>
                      <a:r>
                        <a:rPr lang="en-US" sz="1300" b="1" dirty="0">
                          <a:solidFill>
                            <a:srgbClr val="FFFFFF"/>
                          </a:solidFill>
                          <a:latin typeface="Calibri" pitchFamily="34" charset="0"/>
                          <a:ea typeface="Calibri" pitchFamily="34" charset="-122"/>
                          <a:cs typeface="Calibri" pitchFamily="34" charset="-120"/>
                        </a:rPr>
                        <a:t>Hold</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C3C3B"/>
                    </a:solidFill>
                  </a:tcPr>
                </a:tc>
                <a:extLst>
                  <a:ext uri="{0D108BD9-81ED-4DB2-BD59-A6C34878D82A}">
                    <a16:rowId xmlns:a16="http://schemas.microsoft.com/office/drawing/2014/main" val="10000"/>
                  </a:ext>
                </a:extLst>
              </a:tr>
              <a:tr h="365760">
                <a:tc>
                  <a:txBody>
                    <a:bodyPr/>
                    <a:lstStyle/>
                    <a:p>
                      <a:pPr marL="0" indent="0">
                        <a:buNone/>
                      </a:pPr>
                      <a:r>
                        <a:rPr lang="en-US" sz="1300" b="1" dirty="0">
                          <a:solidFill>
                            <a:srgbClr val="1F1F1F"/>
                          </a:solidFill>
                          <a:latin typeface="Calibri" pitchFamily="34" charset="0"/>
                          <a:ea typeface="Calibri" pitchFamily="34" charset="-122"/>
                          <a:cs typeface="Calibri" pitchFamily="34" charset="-120"/>
                        </a:rPr>
                        <a:t>Team Leader 14</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b="1" dirty="0">
                          <a:solidFill>
                            <a:srgbClr val="2E7D32"/>
                          </a:solidFill>
                          <a:latin typeface="Calibri" pitchFamily="34" charset="0"/>
                          <a:ea typeface="Calibri" pitchFamily="34" charset="-122"/>
                          <a:cs typeface="Calibri" pitchFamily="34" charset="-120"/>
                        </a:rPr>
                        <a:t>4.23</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723</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91</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300" b="1" dirty="0">
                          <a:solidFill>
                            <a:srgbClr val="1F1F1F"/>
                          </a:solidFill>
                          <a:latin typeface="Calibri" pitchFamily="34" charset="0"/>
                          <a:ea typeface="Calibri" pitchFamily="34" charset="-122"/>
                          <a:cs typeface="Calibri" pitchFamily="34" charset="-120"/>
                        </a:rPr>
                        <a:t>Team Leader 08</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b="1" dirty="0">
                          <a:solidFill>
                            <a:srgbClr val="2E7D32"/>
                          </a:solidFill>
                          <a:latin typeface="Calibri" pitchFamily="34" charset="0"/>
                          <a:ea typeface="Calibri" pitchFamily="34" charset="-122"/>
                          <a:cs typeface="Calibri" pitchFamily="34" charset="-120"/>
                        </a:rPr>
                        <a:t>4.17</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481</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300" b="1" dirty="0">
                          <a:solidFill>
                            <a:srgbClr val="1F1F1F"/>
                          </a:solidFill>
                          <a:latin typeface="Calibri" pitchFamily="34" charset="0"/>
                          <a:ea typeface="Calibri" pitchFamily="34" charset="-122"/>
                          <a:cs typeface="Calibri" pitchFamily="34" charset="-120"/>
                        </a:rPr>
                        <a:t>Team Leader 17</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b="1" dirty="0">
                          <a:solidFill>
                            <a:srgbClr val="2E7D32"/>
                          </a:solidFill>
                          <a:latin typeface="Calibri" pitchFamily="34" charset="0"/>
                          <a:ea typeface="Calibri" pitchFamily="34" charset="-122"/>
                          <a:cs typeface="Calibri" pitchFamily="34" charset="-120"/>
                        </a:rPr>
                        <a:t>4.10</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352</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300" b="1" dirty="0">
                          <a:solidFill>
                            <a:srgbClr val="1F1F1F"/>
                          </a:solidFill>
                          <a:latin typeface="Calibri" pitchFamily="34" charset="0"/>
                          <a:ea typeface="Calibri" pitchFamily="34" charset="-122"/>
                          <a:cs typeface="Calibri" pitchFamily="34" charset="-120"/>
                        </a:rPr>
                        <a:t>Team Leader 02</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b="1" dirty="0">
                          <a:solidFill>
                            <a:srgbClr val="2E7D32"/>
                          </a:solidFill>
                          <a:latin typeface="Calibri" pitchFamily="34" charset="0"/>
                          <a:ea typeface="Calibri" pitchFamily="34" charset="-122"/>
                          <a:cs typeface="Calibri" pitchFamily="34" charset="-120"/>
                        </a:rPr>
                        <a:t>4.09</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382</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300" b="1" dirty="0">
                          <a:solidFill>
                            <a:srgbClr val="1F1F1F"/>
                          </a:solidFill>
                          <a:latin typeface="Calibri" pitchFamily="34" charset="0"/>
                          <a:ea typeface="Calibri" pitchFamily="34" charset="-122"/>
                          <a:cs typeface="Calibri" pitchFamily="34" charset="-120"/>
                        </a:rPr>
                        <a:t>Team Leader 07</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b="1" dirty="0">
                          <a:solidFill>
                            <a:srgbClr val="2E7D32"/>
                          </a:solidFill>
                          <a:latin typeface="Calibri" pitchFamily="34" charset="0"/>
                          <a:ea typeface="Calibri" pitchFamily="34" charset="-122"/>
                          <a:cs typeface="Calibri" pitchFamily="34" charset="-120"/>
                        </a:rPr>
                        <a:t>4.09</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457</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27</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5"/>
          <p:cNvSpPr txBox="1"/>
          <p:nvPr/>
        </p:nvSpPr>
        <p:spPr>
          <a:xfrm>
            <a:off x="6324448" y="1965960"/>
            <a:ext cx="5318608" cy="320040"/>
          </a:xfrm>
          <a:prstGeom prst="rect">
            <a:avLst/>
          </a:prstGeom>
          <a:noFill/>
          <a:ln/>
        </p:spPr>
        <p:txBody>
          <a:bodyPr wrap="square" lIns="0" tIns="0" rIns="0" bIns="0" rtlCol="0" anchor="ctr"/>
          <a:lstStyle/>
          <a:p>
            <a:pPr marL="0" indent="0">
              <a:buNone/>
            </a:pPr>
            <a:r>
              <a:rPr lang="en-US" sz="1600" b="1" dirty="0">
                <a:solidFill>
                  <a:srgbClr val="E00800"/>
                </a:solidFill>
                <a:latin typeface="Calibri" pitchFamily="34" charset="0"/>
                <a:ea typeface="Calibri" pitchFamily="34" charset="-122"/>
                <a:cs typeface="Calibri" pitchFamily="34" charset="-120"/>
              </a:rPr>
              <a:t>Needs focus</a:t>
            </a:r>
            <a:endParaRPr lang="en-US" sz="16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324448" y="2331720"/>
          <a:ext cx="5394960" cy="2194560"/>
        </p:xfrm>
        <a:graphic>
          <a:graphicData uri="http://schemas.openxmlformats.org/drawingml/2006/table">
            <a:tbl>
              <a:tblPr/>
              <a:tblGrid>
                <a:gridCol w="23774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6576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Team Leader</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C3C3B"/>
                    </a:solidFill>
                  </a:tcPr>
                </a:tc>
                <a:tc>
                  <a:txBody>
                    <a:bodyPr/>
                    <a:lstStyle/>
                    <a:p>
                      <a:pPr marL="0" indent="0" algn="r">
                        <a:buNone/>
                      </a:pPr>
                      <a:r>
                        <a:rPr lang="en-US" sz="1300" b="1" dirty="0">
                          <a:solidFill>
                            <a:srgbClr val="FFFFFF"/>
                          </a:solidFill>
                          <a:latin typeface="Calibri" pitchFamily="34" charset="0"/>
                          <a:ea typeface="Calibri" pitchFamily="34" charset="-122"/>
                          <a:cs typeface="Calibri" pitchFamily="34" charset="-120"/>
                        </a:rPr>
                        <a:t>CSAT</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C3C3B"/>
                    </a:solidFill>
                  </a:tcPr>
                </a:tc>
                <a:tc>
                  <a:txBody>
                    <a:bodyPr/>
                    <a:lstStyle/>
                    <a:p>
                      <a:pPr marL="0" indent="0" algn="r">
                        <a:buNone/>
                      </a:pPr>
                      <a:r>
                        <a:rPr lang="en-US" sz="1300" b="1" dirty="0">
                          <a:solidFill>
                            <a:srgbClr val="FFFFFF"/>
                          </a:solidFill>
                          <a:latin typeface="Calibri" pitchFamily="34" charset="0"/>
                          <a:ea typeface="Calibri" pitchFamily="34" charset="-122"/>
                          <a:cs typeface="Calibri" pitchFamily="34" charset="-120"/>
                        </a:rPr>
                        <a:t>AHT</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C3C3B"/>
                    </a:solidFill>
                  </a:tcPr>
                </a:tc>
                <a:tc>
                  <a:txBody>
                    <a:bodyPr/>
                    <a:lstStyle/>
                    <a:p>
                      <a:pPr marL="0" indent="0" algn="r">
                        <a:buNone/>
                      </a:pPr>
                      <a:r>
                        <a:rPr lang="en-US" sz="1300" b="1" dirty="0">
                          <a:solidFill>
                            <a:srgbClr val="FFFFFF"/>
                          </a:solidFill>
                          <a:latin typeface="Calibri" pitchFamily="34" charset="0"/>
                          <a:ea typeface="Calibri" pitchFamily="34" charset="-122"/>
                          <a:cs typeface="Calibri" pitchFamily="34" charset="-120"/>
                        </a:rPr>
                        <a:t>Hold</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C3C3B"/>
                    </a:solidFill>
                  </a:tcPr>
                </a:tc>
                <a:extLst>
                  <a:ext uri="{0D108BD9-81ED-4DB2-BD59-A6C34878D82A}">
                    <a16:rowId xmlns:a16="http://schemas.microsoft.com/office/drawing/2014/main" val="10000"/>
                  </a:ext>
                </a:extLst>
              </a:tr>
              <a:tr h="365760">
                <a:tc>
                  <a:txBody>
                    <a:bodyPr/>
                    <a:lstStyle/>
                    <a:p>
                      <a:pPr marL="0" indent="0">
                        <a:buNone/>
                      </a:pPr>
                      <a:r>
                        <a:rPr lang="en-US" sz="1300" b="1" dirty="0">
                          <a:solidFill>
                            <a:srgbClr val="1F1F1F"/>
                          </a:solidFill>
                          <a:latin typeface="Calibri" pitchFamily="34" charset="0"/>
                          <a:ea typeface="Calibri" pitchFamily="34" charset="-122"/>
                          <a:cs typeface="Calibri" pitchFamily="34" charset="-120"/>
                        </a:rPr>
                        <a:t>Team Leader 12</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b="1" dirty="0">
                          <a:solidFill>
                            <a:srgbClr val="E00800"/>
                          </a:solidFill>
                          <a:latin typeface="Calibri" pitchFamily="34" charset="0"/>
                          <a:ea typeface="Calibri" pitchFamily="34" charset="-122"/>
                          <a:cs typeface="Calibri" pitchFamily="34" charset="-120"/>
                        </a:rPr>
                        <a:t>3.51</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679</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90</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300" b="1" dirty="0">
                          <a:solidFill>
                            <a:srgbClr val="1F1F1F"/>
                          </a:solidFill>
                          <a:latin typeface="Calibri" pitchFamily="34" charset="0"/>
                          <a:ea typeface="Calibri" pitchFamily="34" charset="-122"/>
                          <a:cs typeface="Calibri" pitchFamily="34" charset="-120"/>
                        </a:rPr>
                        <a:t>Team Leader 13</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b="1" dirty="0">
                          <a:solidFill>
                            <a:srgbClr val="E00800"/>
                          </a:solidFill>
                          <a:latin typeface="Calibri" pitchFamily="34" charset="0"/>
                          <a:ea typeface="Calibri" pitchFamily="34" charset="-122"/>
                          <a:cs typeface="Calibri" pitchFamily="34" charset="-120"/>
                        </a:rPr>
                        <a:t>3.75</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586</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83</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300" b="1" dirty="0">
                          <a:solidFill>
                            <a:srgbClr val="1F1F1F"/>
                          </a:solidFill>
                          <a:latin typeface="Calibri" pitchFamily="34" charset="0"/>
                          <a:ea typeface="Calibri" pitchFamily="34" charset="-122"/>
                          <a:cs typeface="Calibri" pitchFamily="34" charset="-120"/>
                        </a:rPr>
                        <a:t>Team Leader 15</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b="1" dirty="0">
                          <a:solidFill>
                            <a:srgbClr val="E00800"/>
                          </a:solidFill>
                          <a:latin typeface="Calibri" pitchFamily="34" charset="0"/>
                          <a:ea typeface="Calibri" pitchFamily="34" charset="-122"/>
                          <a:cs typeface="Calibri" pitchFamily="34" charset="-120"/>
                        </a:rPr>
                        <a:t>3.84</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724</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75</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300" b="1" dirty="0">
                          <a:solidFill>
                            <a:srgbClr val="1F1F1F"/>
                          </a:solidFill>
                          <a:latin typeface="Calibri" pitchFamily="34" charset="0"/>
                          <a:ea typeface="Calibri" pitchFamily="34" charset="-122"/>
                          <a:cs typeface="Calibri" pitchFamily="34" charset="-120"/>
                        </a:rPr>
                        <a:t>Team Leader 10</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b="1" dirty="0">
                          <a:solidFill>
                            <a:srgbClr val="E00800"/>
                          </a:solidFill>
                          <a:latin typeface="Calibri" pitchFamily="34" charset="0"/>
                          <a:ea typeface="Calibri" pitchFamily="34" charset="-122"/>
                          <a:cs typeface="Calibri" pitchFamily="34" charset="-120"/>
                        </a:rPr>
                        <a:t>3.89</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595</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300" b="1" dirty="0">
                          <a:solidFill>
                            <a:srgbClr val="1F1F1F"/>
                          </a:solidFill>
                          <a:latin typeface="Calibri" pitchFamily="34" charset="0"/>
                          <a:ea typeface="Calibri" pitchFamily="34" charset="-122"/>
                          <a:cs typeface="Calibri" pitchFamily="34" charset="-120"/>
                        </a:rPr>
                        <a:t>Team Leader 18</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b="1" dirty="0">
                          <a:solidFill>
                            <a:srgbClr val="E00800"/>
                          </a:solidFill>
                          <a:latin typeface="Calibri" pitchFamily="34" charset="0"/>
                          <a:ea typeface="Calibri" pitchFamily="34" charset="-122"/>
                          <a:cs typeface="Calibri" pitchFamily="34" charset="-120"/>
                        </a:rPr>
                        <a:t>3.89</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555</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300" dirty="0">
                          <a:solidFill>
                            <a:srgbClr val="1F1F1F"/>
                          </a:solidFill>
                          <a:latin typeface="Calibri" pitchFamily="34" charset="0"/>
                          <a:ea typeface="Calibri" pitchFamily="34" charset="-122"/>
                          <a:cs typeface="Calibri" pitchFamily="34" charset="-120"/>
                        </a:rPr>
                        <a:t>62</a:t>
                      </a:r>
                      <a:endParaRPr lang="en-US" sz="13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Shape 6"/>
          <p:cNvSpPr/>
          <p:nvPr/>
        </p:nvSpPr>
        <p:spPr>
          <a:xfrm>
            <a:off x="548640" y="4846320"/>
            <a:ext cx="11094415" cy="1280160"/>
          </a:xfrm>
          <a:prstGeom prst="roundRect">
            <a:avLst>
              <a:gd name="adj" fmla="val 5714"/>
            </a:avLst>
          </a:prstGeom>
          <a:solidFill>
            <a:srgbClr val="F4F5F7"/>
          </a:solidFill>
          <a:ln/>
        </p:spPr>
      </p:sp>
      <p:sp>
        <p:nvSpPr>
          <p:cNvPr id="11" name="Text 7"/>
          <p:cNvSpPr txBox="1"/>
          <p:nvPr/>
        </p:nvSpPr>
        <p:spPr>
          <a:xfrm>
            <a:off x="822960" y="4937760"/>
            <a:ext cx="10545775" cy="1097280"/>
          </a:xfrm>
          <a:prstGeom prst="rect">
            <a:avLst/>
          </a:prstGeom>
          <a:noFill/>
          <a:ln/>
        </p:spPr>
        <p:txBody>
          <a:bodyPr wrap="square" lIns="0" tIns="0" rIns="0" bIns="0" rtlCol="0" anchor="ctr"/>
          <a:lstStyle/>
          <a:p>
            <a:pPr marL="0" indent="0">
              <a:buNone/>
            </a:pPr>
            <a:r>
              <a:rPr lang="en-US" sz="1400" b="1" dirty="0">
                <a:solidFill>
                  <a:srgbClr val="1F1F1F"/>
                </a:solidFill>
                <a:latin typeface="Calibri" pitchFamily="34" charset="0"/>
                <a:ea typeface="Calibri" pitchFamily="34" charset="-122"/>
                <a:cs typeface="Calibri" pitchFamily="34" charset="-120"/>
              </a:rPr>
              <a:t>Two patterns.  </a:t>
            </a:r>
            <a:r>
              <a:rPr lang="en-US" sz="1400" dirty="0">
                <a:solidFill>
                  <a:srgbClr val="3C3C3B"/>
                </a:solidFill>
                <a:latin typeface="Calibri" pitchFamily="34" charset="0"/>
                <a:ea typeface="Calibri" pitchFamily="34" charset="-122"/>
                <a:cs typeface="Calibri" pitchFamily="34" charset="-120"/>
              </a:rPr>
              <a:t>Team Leader 17 and 02 prove fast and satisfying can go together (≈365s, 4.1). Team Leader 14 buys the top CSAT with 723s calls. The 'needs focus' group all show 60–90s of hold, which is where coaching should start.</a:t>
            </a:r>
            <a:endParaRPr lang="en-US" sz="1400" dirty="0"/>
          </a:p>
        </p:txBody>
      </p:sp>
      <p:sp>
        <p:nvSpPr>
          <p:cNvPr id="13" name="Text 9"/>
          <p:cNvSpPr txBox="1"/>
          <p:nvPr/>
        </p:nvSpPr>
        <p:spPr>
          <a:xfrm>
            <a:off x="11185855" y="6446520"/>
            <a:ext cx="457200" cy="22860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645920" cy="274320"/>
          </a:xfrm>
          <a:prstGeom prst="roundRect">
            <a:avLst>
              <a:gd name="adj" fmla="val 50000"/>
            </a:avLst>
          </a:prstGeom>
          <a:solidFill>
            <a:srgbClr val="FDE3E1"/>
          </a:solidFill>
          <a:ln/>
        </p:spPr>
      </p:sp>
      <p:sp>
        <p:nvSpPr>
          <p:cNvPr id="3" name="Text 1"/>
          <p:cNvSpPr txBox="1"/>
          <p:nvPr/>
        </p:nvSpPr>
        <p:spPr>
          <a:xfrm>
            <a:off x="548640" y="411480"/>
            <a:ext cx="1645920" cy="274320"/>
          </a:xfrm>
          <a:prstGeom prst="rect">
            <a:avLst/>
          </a:prstGeom>
          <a:noFill/>
          <a:ln/>
        </p:spPr>
        <p:txBody>
          <a:bodyPr wrap="square" lIns="0" tIns="0" rIns="0" bIns="0" rtlCol="0" anchor="ctr"/>
          <a:lstStyle/>
          <a:p>
            <a:pPr marL="0" indent="0" algn="ctr">
              <a:buNone/>
            </a:pPr>
            <a:r>
              <a:rPr lang="en-US" sz="1000" b="1" kern="0" spc="100" dirty="0">
                <a:solidFill>
                  <a:srgbClr val="E00800"/>
                </a:solidFill>
                <a:latin typeface="Calibri" pitchFamily="34" charset="0"/>
                <a:ea typeface="Calibri" pitchFamily="34" charset="-122"/>
                <a:cs typeface="Calibri" pitchFamily="34" charset="-120"/>
              </a:rPr>
              <a:t>WFH vs WFO</a:t>
            </a:r>
            <a:endParaRPr lang="en-US" sz="1000" dirty="0"/>
          </a:p>
        </p:txBody>
      </p:sp>
      <p:sp>
        <p:nvSpPr>
          <p:cNvPr id="4" name="Text 2"/>
          <p:cNvSpPr txBox="1"/>
          <p:nvPr/>
        </p:nvSpPr>
        <p:spPr>
          <a:xfrm>
            <a:off x="548640" y="777240"/>
            <a:ext cx="11094415" cy="685800"/>
          </a:xfrm>
          <a:prstGeom prst="rect">
            <a:avLst/>
          </a:prstGeom>
          <a:noFill/>
          <a:ln/>
        </p:spPr>
        <p:txBody>
          <a:bodyPr wrap="square" lIns="0" tIns="0" rIns="0" bIns="0" rtlCol="0" anchor="t"/>
          <a:lstStyle/>
          <a:p>
            <a:pPr marL="0" indent="0">
              <a:buNone/>
            </a:pPr>
            <a:r>
              <a:rPr lang="en-US" sz="3000" b="1" dirty="0">
                <a:solidFill>
                  <a:srgbClr val="1F1F1F"/>
                </a:solidFill>
                <a:latin typeface="Calibri" pitchFamily="34" charset="0"/>
                <a:ea typeface="Calibri" pitchFamily="34" charset="-122"/>
                <a:cs typeface="Calibri" pitchFamily="34" charset="-120"/>
              </a:rPr>
              <a:t>WFH agents handle calls 22% faster with the same CSAT</a:t>
            </a:r>
            <a:endParaRPr lang="en-US" sz="30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marL="0" indent="0">
              <a:buNone/>
            </a:pPr>
            <a:r>
              <a:rPr lang="en-US" sz="1500" dirty="0">
                <a:solidFill>
                  <a:srgbClr val="6B7280"/>
                </a:solidFill>
                <a:latin typeface="Calibri" pitchFamily="34" charset="0"/>
                <a:ea typeface="Calibri" pitchFamily="34" charset="-122"/>
                <a:cs typeface="Calibri" pitchFamily="34" charset="-120"/>
              </a:rPr>
              <a:t>AHT in seconds by LOB and work location</a:t>
            </a:r>
            <a:endParaRPr lang="en-US" sz="1500" dirty="0"/>
          </a:p>
        </p:txBody>
      </p:sp>
      <p:graphicFrame>
        <p:nvGraphicFramePr>
          <p:cNvPr id="6" name="Chart 0"/>
          <p:cNvGraphicFramePr/>
          <p:nvPr/>
        </p:nvGraphicFramePr>
        <p:xfrm>
          <a:off x="548640" y="1920240"/>
          <a:ext cx="58521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766560" y="1920240"/>
            <a:ext cx="2346808" cy="1234440"/>
          </a:xfrm>
          <a:prstGeom prst="roundRect">
            <a:avLst>
              <a:gd name="adj" fmla="val 5926"/>
            </a:avLst>
          </a:prstGeom>
          <a:solidFill>
            <a:srgbClr val="F4F5F7"/>
          </a:solidFill>
          <a:ln/>
        </p:spPr>
      </p:sp>
      <p:sp>
        <p:nvSpPr>
          <p:cNvPr id="8" name="Text 5"/>
          <p:cNvSpPr txBox="1"/>
          <p:nvPr/>
        </p:nvSpPr>
        <p:spPr>
          <a:xfrm>
            <a:off x="6995160" y="2057400"/>
            <a:ext cx="1981048" cy="640080"/>
          </a:xfrm>
          <a:prstGeom prst="rect">
            <a:avLst/>
          </a:prstGeom>
          <a:noFill/>
          <a:ln/>
        </p:spPr>
        <p:txBody>
          <a:bodyPr wrap="square" lIns="0" tIns="0" rIns="0" bIns="0" rtlCol="0" anchor="ctr"/>
          <a:lstStyle/>
          <a:p>
            <a:pPr marL="0" indent="0">
              <a:buNone/>
            </a:pPr>
            <a:r>
              <a:rPr lang="en-US" sz="3600" b="1" dirty="0">
                <a:solidFill>
                  <a:srgbClr val="3C3C3B"/>
                </a:solidFill>
                <a:latin typeface="Calibri" pitchFamily="34" charset="0"/>
                <a:ea typeface="Calibri" pitchFamily="34" charset="-122"/>
                <a:cs typeface="Calibri" pitchFamily="34" charset="-120"/>
              </a:rPr>
              <a:t>4.02</a:t>
            </a:r>
            <a:endParaRPr lang="en-US" sz="3600" dirty="0"/>
          </a:p>
        </p:txBody>
      </p:sp>
      <p:sp>
        <p:nvSpPr>
          <p:cNvPr id="9" name="Text 6"/>
          <p:cNvSpPr txBox="1"/>
          <p:nvPr/>
        </p:nvSpPr>
        <p:spPr>
          <a:xfrm>
            <a:off x="6995160" y="2697480"/>
            <a:ext cx="1981048"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WFH Avg CSAT</a:t>
            </a:r>
            <a:endParaRPr lang="en-US" sz="1200" dirty="0"/>
          </a:p>
        </p:txBody>
      </p:sp>
      <p:sp>
        <p:nvSpPr>
          <p:cNvPr id="10" name="Shape 7"/>
          <p:cNvSpPr/>
          <p:nvPr/>
        </p:nvSpPr>
        <p:spPr>
          <a:xfrm>
            <a:off x="9296248" y="1920240"/>
            <a:ext cx="2346808" cy="1234440"/>
          </a:xfrm>
          <a:prstGeom prst="roundRect">
            <a:avLst>
              <a:gd name="adj" fmla="val 5926"/>
            </a:avLst>
          </a:prstGeom>
          <a:solidFill>
            <a:srgbClr val="F4F5F7"/>
          </a:solidFill>
          <a:ln/>
        </p:spPr>
      </p:sp>
      <p:sp>
        <p:nvSpPr>
          <p:cNvPr id="11" name="Text 8"/>
          <p:cNvSpPr txBox="1"/>
          <p:nvPr/>
        </p:nvSpPr>
        <p:spPr>
          <a:xfrm>
            <a:off x="9524848" y="2057400"/>
            <a:ext cx="1981048" cy="640080"/>
          </a:xfrm>
          <a:prstGeom prst="rect">
            <a:avLst/>
          </a:prstGeom>
          <a:noFill/>
          <a:ln/>
        </p:spPr>
        <p:txBody>
          <a:bodyPr wrap="square" lIns="0" tIns="0" rIns="0" bIns="0" rtlCol="0" anchor="ctr"/>
          <a:lstStyle/>
          <a:p>
            <a:pPr marL="0" indent="0">
              <a:buNone/>
            </a:pPr>
            <a:r>
              <a:rPr lang="en-US" sz="3600" b="1" dirty="0">
                <a:solidFill>
                  <a:srgbClr val="E00800"/>
                </a:solidFill>
                <a:latin typeface="Calibri" pitchFamily="34" charset="0"/>
                <a:ea typeface="Calibri" pitchFamily="34" charset="-122"/>
                <a:cs typeface="Calibri" pitchFamily="34" charset="-120"/>
              </a:rPr>
              <a:t>4.01</a:t>
            </a:r>
            <a:endParaRPr lang="en-US" sz="3600" dirty="0"/>
          </a:p>
        </p:txBody>
      </p:sp>
      <p:sp>
        <p:nvSpPr>
          <p:cNvPr id="12" name="Text 9"/>
          <p:cNvSpPr txBox="1"/>
          <p:nvPr/>
        </p:nvSpPr>
        <p:spPr>
          <a:xfrm>
            <a:off x="9524848" y="2697480"/>
            <a:ext cx="1981048"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WFO Avg CSAT</a:t>
            </a:r>
            <a:endParaRPr lang="en-US" sz="1200" dirty="0"/>
          </a:p>
        </p:txBody>
      </p:sp>
      <p:sp>
        <p:nvSpPr>
          <p:cNvPr id="13" name="Shape 10"/>
          <p:cNvSpPr/>
          <p:nvPr/>
        </p:nvSpPr>
        <p:spPr>
          <a:xfrm>
            <a:off x="6766560" y="3337560"/>
            <a:ext cx="2346808" cy="1234440"/>
          </a:xfrm>
          <a:prstGeom prst="roundRect">
            <a:avLst>
              <a:gd name="adj" fmla="val 5926"/>
            </a:avLst>
          </a:prstGeom>
          <a:solidFill>
            <a:srgbClr val="F4F5F7"/>
          </a:solidFill>
          <a:ln/>
        </p:spPr>
      </p:sp>
      <p:sp>
        <p:nvSpPr>
          <p:cNvPr id="14" name="Text 11"/>
          <p:cNvSpPr txBox="1"/>
          <p:nvPr/>
        </p:nvSpPr>
        <p:spPr>
          <a:xfrm>
            <a:off x="6995160" y="3474720"/>
            <a:ext cx="1981048" cy="640080"/>
          </a:xfrm>
          <a:prstGeom prst="rect">
            <a:avLst/>
          </a:prstGeom>
          <a:noFill/>
          <a:ln/>
        </p:spPr>
        <p:txBody>
          <a:bodyPr wrap="square" lIns="0" tIns="0" rIns="0" bIns="0" rtlCol="0" anchor="ctr"/>
          <a:lstStyle/>
          <a:p>
            <a:pPr marL="0" indent="0">
              <a:buNone/>
            </a:pPr>
            <a:r>
              <a:rPr lang="en-US" sz="3600" b="1" dirty="0">
                <a:solidFill>
                  <a:srgbClr val="3C3C3B"/>
                </a:solidFill>
                <a:latin typeface="Calibri" pitchFamily="34" charset="0"/>
                <a:ea typeface="Calibri" pitchFamily="34" charset="-122"/>
                <a:cs typeface="Calibri" pitchFamily="34" charset="-120"/>
              </a:rPr>
              <a:t>19s</a:t>
            </a:r>
            <a:endParaRPr lang="en-US" sz="3600" dirty="0"/>
          </a:p>
        </p:txBody>
      </p:sp>
      <p:sp>
        <p:nvSpPr>
          <p:cNvPr id="15" name="Text 12"/>
          <p:cNvSpPr txBox="1"/>
          <p:nvPr/>
        </p:nvSpPr>
        <p:spPr>
          <a:xfrm>
            <a:off x="6995160" y="4114800"/>
            <a:ext cx="1981048"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WFH hold per call</a:t>
            </a:r>
            <a:endParaRPr lang="en-US" sz="1200" dirty="0"/>
          </a:p>
        </p:txBody>
      </p:sp>
      <p:sp>
        <p:nvSpPr>
          <p:cNvPr id="16" name="Shape 13"/>
          <p:cNvSpPr/>
          <p:nvPr/>
        </p:nvSpPr>
        <p:spPr>
          <a:xfrm>
            <a:off x="9296248" y="3337560"/>
            <a:ext cx="2346808" cy="1234440"/>
          </a:xfrm>
          <a:prstGeom prst="roundRect">
            <a:avLst>
              <a:gd name="adj" fmla="val 5926"/>
            </a:avLst>
          </a:prstGeom>
          <a:solidFill>
            <a:srgbClr val="F4F5F7"/>
          </a:solidFill>
          <a:ln/>
        </p:spPr>
      </p:sp>
      <p:sp>
        <p:nvSpPr>
          <p:cNvPr id="17" name="Text 14"/>
          <p:cNvSpPr txBox="1"/>
          <p:nvPr/>
        </p:nvSpPr>
        <p:spPr>
          <a:xfrm>
            <a:off x="9524848" y="3474720"/>
            <a:ext cx="1981048" cy="640080"/>
          </a:xfrm>
          <a:prstGeom prst="rect">
            <a:avLst/>
          </a:prstGeom>
          <a:noFill/>
          <a:ln/>
        </p:spPr>
        <p:txBody>
          <a:bodyPr wrap="square" lIns="0" tIns="0" rIns="0" bIns="0" rtlCol="0" anchor="ctr"/>
          <a:lstStyle/>
          <a:p>
            <a:pPr marL="0" indent="0">
              <a:buNone/>
            </a:pPr>
            <a:r>
              <a:rPr lang="en-US" sz="3600" b="1" dirty="0">
                <a:solidFill>
                  <a:srgbClr val="E00800"/>
                </a:solidFill>
                <a:latin typeface="Calibri" pitchFamily="34" charset="0"/>
                <a:ea typeface="Calibri" pitchFamily="34" charset="-122"/>
                <a:cs typeface="Calibri" pitchFamily="34" charset="-120"/>
              </a:rPr>
              <a:t>46s</a:t>
            </a:r>
            <a:endParaRPr lang="en-US" sz="3600" dirty="0"/>
          </a:p>
        </p:txBody>
      </p:sp>
      <p:sp>
        <p:nvSpPr>
          <p:cNvPr id="18" name="Text 15"/>
          <p:cNvSpPr txBox="1"/>
          <p:nvPr/>
        </p:nvSpPr>
        <p:spPr>
          <a:xfrm>
            <a:off x="9524848" y="4114800"/>
            <a:ext cx="1981048"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WFO hold per call</a:t>
            </a:r>
            <a:endParaRPr lang="en-US" sz="1200" dirty="0"/>
          </a:p>
        </p:txBody>
      </p:sp>
      <p:sp>
        <p:nvSpPr>
          <p:cNvPr id="19" name="Text 16"/>
          <p:cNvSpPr txBox="1"/>
          <p:nvPr/>
        </p:nvSpPr>
        <p:spPr>
          <a:xfrm>
            <a:off x="6766560" y="4754880"/>
            <a:ext cx="4876495" cy="1463040"/>
          </a:xfrm>
          <a:prstGeom prst="rect">
            <a:avLst/>
          </a:prstGeom>
          <a:noFill/>
          <a:ln/>
        </p:spPr>
        <p:txBody>
          <a:bodyPr wrap="square" lIns="0" tIns="0" rIns="0" bIns="0" rtlCol="0" anchor="t"/>
          <a:lstStyle/>
          <a:p>
            <a:pPr marL="203200" indent="-203200">
              <a:spcAft>
                <a:spcPts val="800"/>
              </a:spcAft>
              <a:buSzPct val="100000"/>
              <a:buChar char="•"/>
            </a:pPr>
            <a:r>
              <a:rPr lang="en-US" sz="1250" b="1" dirty="0">
                <a:solidFill>
                  <a:srgbClr val="1F1F1F"/>
                </a:solidFill>
                <a:latin typeface="Calibri" pitchFamily="34" charset="0"/>
                <a:ea typeface="Calibri" pitchFamily="34" charset="-122"/>
                <a:cs typeface="Calibri" pitchFamily="34" charset="-120"/>
              </a:rPr>
              <a:t>Same result in both LOBs, </a:t>
            </a:r>
            <a:r>
              <a:rPr lang="en-US" sz="1250" dirty="0">
                <a:solidFill>
                  <a:srgbClr val="1F1F1F"/>
                </a:solidFill>
                <a:latin typeface="Calibri" pitchFamily="34" charset="0"/>
                <a:ea typeface="Calibri" pitchFamily="34" charset="-122"/>
                <a:cs typeface="Calibri" pitchFamily="34" charset="-120"/>
              </a:rPr>
              <a:t>so it is not a Mobile/TV mix effect.</a:t>
            </a:r>
            <a:endParaRPr lang="en-US" sz="1250" dirty="0"/>
          </a:p>
          <a:p>
            <a:pPr marL="203200" indent="-203200">
              <a:spcAft>
                <a:spcPts val="800"/>
              </a:spcAft>
              <a:buSzPct val="100000"/>
              <a:buChar char="•"/>
            </a:pPr>
            <a:r>
              <a:rPr lang="en-US" sz="1250" b="1" dirty="0">
                <a:solidFill>
                  <a:srgbClr val="1F1F1F"/>
                </a:solidFill>
                <a:latin typeface="Calibri" pitchFamily="34" charset="0"/>
                <a:ea typeface="Calibri" pitchFamily="34" charset="-122"/>
                <a:cs typeface="Calibri" pitchFamily="34" charset="-120"/>
              </a:rPr>
              <a:t>Caveat: </a:t>
            </a:r>
            <a:r>
              <a:rPr lang="en-US" sz="1250" dirty="0">
                <a:solidFill>
                  <a:srgbClr val="1F1F1F"/>
                </a:solidFill>
                <a:latin typeface="Calibri" pitchFamily="34" charset="0"/>
                <a:ea typeface="Calibri" pitchFamily="34" charset="-122"/>
                <a:cs typeface="Calibri" pitchFamily="34" charset="-120"/>
              </a:rPr>
              <a:t>53 WFH vs 193 WFO agents. WFH may be granted to experienced agents, so validate against tenure before scaling.</a:t>
            </a:r>
            <a:endParaRPr lang="en-US" sz="1250" dirty="0"/>
          </a:p>
        </p:txBody>
      </p:sp>
      <p:sp>
        <p:nvSpPr>
          <p:cNvPr id="21" name="Text 18"/>
          <p:cNvSpPr txBox="1"/>
          <p:nvPr/>
        </p:nvSpPr>
        <p:spPr>
          <a:xfrm>
            <a:off x="11185855" y="6446520"/>
            <a:ext cx="457200" cy="22860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133856" cy="274320"/>
          </a:xfrm>
          <a:prstGeom prst="roundRect">
            <a:avLst>
              <a:gd name="adj" fmla="val 50000"/>
            </a:avLst>
          </a:prstGeom>
          <a:solidFill>
            <a:srgbClr val="FDE3E1"/>
          </a:solidFill>
          <a:ln/>
        </p:spPr>
      </p:sp>
      <p:sp>
        <p:nvSpPr>
          <p:cNvPr id="3" name="Text 1"/>
          <p:cNvSpPr txBox="1"/>
          <p:nvPr/>
        </p:nvSpPr>
        <p:spPr>
          <a:xfrm>
            <a:off x="548640" y="411480"/>
            <a:ext cx="1133856" cy="274320"/>
          </a:xfrm>
          <a:prstGeom prst="rect">
            <a:avLst/>
          </a:prstGeom>
          <a:noFill/>
          <a:ln/>
        </p:spPr>
        <p:txBody>
          <a:bodyPr wrap="square" lIns="0" tIns="0" rIns="0" bIns="0" rtlCol="0" anchor="ctr"/>
          <a:lstStyle/>
          <a:p>
            <a:pPr marL="0" indent="0" algn="ctr">
              <a:buNone/>
            </a:pPr>
            <a:r>
              <a:rPr lang="en-US" sz="1000" b="1" kern="0" spc="100" dirty="0">
                <a:solidFill>
                  <a:srgbClr val="E00800"/>
                </a:solidFill>
                <a:latin typeface="Calibri" pitchFamily="34" charset="0"/>
                <a:ea typeface="Calibri" pitchFamily="34" charset="-122"/>
                <a:cs typeface="Calibri" pitchFamily="34" charset="-120"/>
              </a:rPr>
              <a:t>AGENTS</a:t>
            </a:r>
            <a:endParaRPr lang="en-US" sz="1000" dirty="0"/>
          </a:p>
        </p:txBody>
      </p:sp>
      <p:sp>
        <p:nvSpPr>
          <p:cNvPr id="4" name="Text 2"/>
          <p:cNvSpPr txBox="1"/>
          <p:nvPr/>
        </p:nvSpPr>
        <p:spPr>
          <a:xfrm>
            <a:off x="548640" y="777240"/>
            <a:ext cx="11094415" cy="685800"/>
          </a:xfrm>
          <a:prstGeom prst="rect">
            <a:avLst/>
          </a:prstGeom>
          <a:noFill/>
          <a:ln/>
        </p:spPr>
        <p:txBody>
          <a:bodyPr wrap="square" lIns="0" tIns="0" rIns="0" bIns="0" rtlCol="0" anchor="t"/>
          <a:lstStyle/>
          <a:p>
            <a:pPr marL="0" indent="0">
              <a:buNone/>
            </a:pPr>
            <a:r>
              <a:rPr lang="en-US" sz="3000" b="1" dirty="0">
                <a:solidFill>
                  <a:srgbClr val="1F1F1F"/>
                </a:solidFill>
                <a:latin typeface="Calibri" pitchFamily="34" charset="0"/>
                <a:ea typeface="Calibri" pitchFamily="34" charset="-122"/>
                <a:cs typeface="Calibri" pitchFamily="34" charset="-120"/>
              </a:rPr>
              <a:t>Speed does not cost satisfaction: coach by quadrant</a:t>
            </a:r>
            <a:endParaRPr lang="en-US" sz="30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marL="0" indent="0">
              <a:buNone/>
            </a:pPr>
            <a:r>
              <a:rPr lang="en-US" sz="1500" dirty="0">
                <a:solidFill>
                  <a:srgbClr val="6B7280"/>
                </a:solidFill>
                <a:latin typeface="Calibri" pitchFamily="34" charset="0"/>
                <a:ea typeface="Calibri" pitchFamily="34" charset="-122"/>
                <a:cs typeface="Calibri" pitchFamily="34" charset="-120"/>
              </a:rPr>
              <a:t>167 agents with 10+ surveys, split by account average CSAT (4.01) and AHT (477s)</a:t>
            </a:r>
            <a:endParaRPr lang="en-US" sz="1500" dirty="0"/>
          </a:p>
        </p:txBody>
      </p:sp>
      <p:sp>
        <p:nvSpPr>
          <p:cNvPr id="6" name="Shape 4"/>
          <p:cNvSpPr/>
          <p:nvPr/>
        </p:nvSpPr>
        <p:spPr>
          <a:xfrm>
            <a:off x="548640" y="2011680"/>
            <a:ext cx="3246120" cy="1874520"/>
          </a:xfrm>
          <a:prstGeom prst="roundRect">
            <a:avLst>
              <a:gd name="adj" fmla="val 3902"/>
            </a:avLst>
          </a:prstGeom>
          <a:solidFill>
            <a:srgbClr val="E8F5E9"/>
          </a:solidFill>
          <a:ln/>
        </p:spPr>
      </p:sp>
      <p:sp>
        <p:nvSpPr>
          <p:cNvPr id="7" name="Text 5"/>
          <p:cNvSpPr txBox="1"/>
          <p:nvPr/>
        </p:nvSpPr>
        <p:spPr>
          <a:xfrm>
            <a:off x="777240" y="2194560"/>
            <a:ext cx="1097280" cy="731520"/>
          </a:xfrm>
          <a:prstGeom prst="rect">
            <a:avLst/>
          </a:prstGeom>
          <a:noFill/>
          <a:ln/>
        </p:spPr>
        <p:txBody>
          <a:bodyPr wrap="square" lIns="0" tIns="0" rIns="0" bIns="0" rtlCol="0" anchor="ctr"/>
          <a:lstStyle/>
          <a:p>
            <a:pPr marL="0" indent="0">
              <a:buNone/>
            </a:pPr>
            <a:r>
              <a:rPr lang="en-US" sz="4000" b="1" dirty="0">
                <a:solidFill>
                  <a:srgbClr val="2E7D32"/>
                </a:solidFill>
                <a:latin typeface="Calibri" pitchFamily="34" charset="0"/>
                <a:ea typeface="Calibri" pitchFamily="34" charset="-122"/>
                <a:cs typeface="Calibri" pitchFamily="34" charset="-120"/>
              </a:rPr>
              <a:t>45</a:t>
            </a:r>
            <a:endParaRPr lang="en-US" sz="4000" dirty="0"/>
          </a:p>
        </p:txBody>
      </p:sp>
      <p:sp>
        <p:nvSpPr>
          <p:cNvPr id="8" name="Text 6"/>
          <p:cNvSpPr txBox="1"/>
          <p:nvPr/>
        </p:nvSpPr>
        <p:spPr>
          <a:xfrm>
            <a:off x="1783080" y="2240280"/>
            <a:ext cx="1874520" cy="320040"/>
          </a:xfrm>
          <a:prstGeom prst="rect">
            <a:avLst/>
          </a:prstGeom>
          <a:noFill/>
          <a:ln/>
        </p:spPr>
        <p:txBody>
          <a:bodyPr wrap="square" lIns="0" tIns="0" rIns="0" bIns="0"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Role models</a:t>
            </a:r>
            <a:endParaRPr lang="en-US" sz="1500" dirty="0"/>
          </a:p>
        </p:txBody>
      </p:sp>
      <p:sp>
        <p:nvSpPr>
          <p:cNvPr id="9" name="Text 7"/>
          <p:cNvSpPr txBox="1"/>
          <p:nvPr/>
        </p:nvSpPr>
        <p:spPr>
          <a:xfrm>
            <a:off x="1783080" y="2560320"/>
            <a:ext cx="187452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High CSAT · fast</a:t>
            </a:r>
            <a:endParaRPr lang="en-US" sz="1100" dirty="0"/>
          </a:p>
        </p:txBody>
      </p:sp>
      <p:sp>
        <p:nvSpPr>
          <p:cNvPr id="10" name="Text 8"/>
          <p:cNvSpPr txBox="1"/>
          <p:nvPr/>
        </p:nvSpPr>
        <p:spPr>
          <a:xfrm>
            <a:off x="777240" y="3063240"/>
            <a:ext cx="2834640" cy="640080"/>
          </a:xfrm>
          <a:prstGeom prst="rect">
            <a:avLst/>
          </a:prstGeom>
          <a:noFill/>
          <a:ln/>
        </p:spPr>
        <p:txBody>
          <a:bodyPr wrap="square" lIns="0" tIns="0" rIns="0" bIns="0" rtlCol="0" anchor="t"/>
          <a:lstStyle/>
          <a:p>
            <a:pPr marL="0" indent="0">
              <a:buNone/>
            </a:pPr>
            <a:r>
              <a:rPr lang="en-US" sz="1200" dirty="0">
                <a:solidFill>
                  <a:srgbClr val="3C3C3B"/>
                </a:solidFill>
                <a:latin typeface="Calibri" pitchFamily="34" charset="0"/>
                <a:ea typeface="Calibri" pitchFamily="34" charset="-122"/>
                <a:cs typeface="Calibri" pitchFamily="34" charset="-120"/>
              </a:rPr>
              <a:t>Use as buddies and for call-listening sessions</a:t>
            </a:r>
            <a:endParaRPr lang="en-US" sz="1200" dirty="0"/>
          </a:p>
        </p:txBody>
      </p:sp>
      <p:sp>
        <p:nvSpPr>
          <p:cNvPr id="11" name="Shape 9"/>
          <p:cNvSpPr/>
          <p:nvPr/>
        </p:nvSpPr>
        <p:spPr>
          <a:xfrm>
            <a:off x="3977640" y="2011680"/>
            <a:ext cx="3246120" cy="1874520"/>
          </a:xfrm>
          <a:prstGeom prst="roundRect">
            <a:avLst>
              <a:gd name="adj" fmla="val 3902"/>
            </a:avLst>
          </a:prstGeom>
          <a:solidFill>
            <a:srgbClr val="F4F5F7"/>
          </a:solidFill>
          <a:ln/>
        </p:spPr>
      </p:sp>
      <p:sp>
        <p:nvSpPr>
          <p:cNvPr id="12" name="Text 10"/>
          <p:cNvSpPr txBox="1"/>
          <p:nvPr/>
        </p:nvSpPr>
        <p:spPr>
          <a:xfrm>
            <a:off x="4206240" y="2194560"/>
            <a:ext cx="1097280" cy="731520"/>
          </a:xfrm>
          <a:prstGeom prst="rect">
            <a:avLst/>
          </a:prstGeom>
          <a:noFill/>
          <a:ln/>
        </p:spPr>
        <p:txBody>
          <a:bodyPr wrap="square" lIns="0" tIns="0" rIns="0" bIns="0" rtlCol="0" anchor="ctr"/>
          <a:lstStyle/>
          <a:p>
            <a:pPr marL="0" indent="0">
              <a:buNone/>
            </a:pPr>
            <a:r>
              <a:rPr lang="en-US" sz="4000" b="1" dirty="0">
                <a:solidFill>
                  <a:srgbClr val="3C3C3B"/>
                </a:solidFill>
                <a:latin typeface="Calibri" pitchFamily="34" charset="0"/>
                <a:ea typeface="Calibri" pitchFamily="34" charset="-122"/>
                <a:cs typeface="Calibri" pitchFamily="34" charset="-120"/>
              </a:rPr>
              <a:t>44</a:t>
            </a:r>
            <a:endParaRPr lang="en-US" sz="4000" dirty="0"/>
          </a:p>
        </p:txBody>
      </p:sp>
      <p:sp>
        <p:nvSpPr>
          <p:cNvPr id="13" name="Text 11"/>
          <p:cNvSpPr txBox="1"/>
          <p:nvPr/>
        </p:nvSpPr>
        <p:spPr>
          <a:xfrm>
            <a:off x="5212080" y="2240280"/>
            <a:ext cx="1874520" cy="320040"/>
          </a:xfrm>
          <a:prstGeom prst="rect">
            <a:avLst/>
          </a:prstGeom>
          <a:noFill/>
          <a:ln/>
        </p:spPr>
        <p:txBody>
          <a:bodyPr wrap="square" lIns="0" tIns="0" rIns="0" bIns="0"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Happy but slow</a:t>
            </a:r>
            <a:endParaRPr lang="en-US" sz="1500" dirty="0"/>
          </a:p>
        </p:txBody>
      </p:sp>
      <p:sp>
        <p:nvSpPr>
          <p:cNvPr id="14" name="Text 12"/>
          <p:cNvSpPr txBox="1"/>
          <p:nvPr/>
        </p:nvSpPr>
        <p:spPr>
          <a:xfrm>
            <a:off x="5212080" y="2560320"/>
            <a:ext cx="187452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High CSAT · slow</a:t>
            </a:r>
            <a:endParaRPr lang="en-US" sz="1100" dirty="0"/>
          </a:p>
        </p:txBody>
      </p:sp>
      <p:sp>
        <p:nvSpPr>
          <p:cNvPr id="15" name="Text 13"/>
          <p:cNvSpPr txBox="1"/>
          <p:nvPr/>
        </p:nvSpPr>
        <p:spPr>
          <a:xfrm>
            <a:off x="4206240" y="3063240"/>
            <a:ext cx="2834640" cy="640080"/>
          </a:xfrm>
          <a:prstGeom prst="rect">
            <a:avLst/>
          </a:prstGeom>
          <a:noFill/>
          <a:ln/>
        </p:spPr>
        <p:txBody>
          <a:bodyPr wrap="square" lIns="0" tIns="0" rIns="0" bIns="0" rtlCol="0" anchor="t"/>
          <a:lstStyle/>
          <a:p>
            <a:pPr marL="0" indent="0">
              <a:buNone/>
            </a:pPr>
            <a:r>
              <a:rPr lang="en-US" sz="1200" dirty="0">
                <a:solidFill>
                  <a:srgbClr val="3C3C3B"/>
                </a:solidFill>
                <a:latin typeface="Calibri" pitchFamily="34" charset="0"/>
                <a:ea typeface="Calibri" pitchFamily="34" charset="-122"/>
                <a:cs typeface="Calibri" pitchFamily="34" charset="-120"/>
              </a:rPr>
              <a:t>Efficiency coaching: hold and call control</a:t>
            </a:r>
            <a:endParaRPr lang="en-US" sz="1200" dirty="0"/>
          </a:p>
        </p:txBody>
      </p:sp>
      <p:sp>
        <p:nvSpPr>
          <p:cNvPr id="16" name="Shape 14"/>
          <p:cNvSpPr/>
          <p:nvPr/>
        </p:nvSpPr>
        <p:spPr>
          <a:xfrm>
            <a:off x="548640" y="4069080"/>
            <a:ext cx="3246120" cy="1874520"/>
          </a:xfrm>
          <a:prstGeom prst="roundRect">
            <a:avLst>
              <a:gd name="adj" fmla="val 3902"/>
            </a:avLst>
          </a:prstGeom>
          <a:solidFill>
            <a:srgbClr val="FDE3E1"/>
          </a:solidFill>
          <a:ln/>
        </p:spPr>
      </p:sp>
      <p:sp>
        <p:nvSpPr>
          <p:cNvPr id="17" name="Text 15"/>
          <p:cNvSpPr txBox="1"/>
          <p:nvPr/>
        </p:nvSpPr>
        <p:spPr>
          <a:xfrm>
            <a:off x="777240" y="4251960"/>
            <a:ext cx="1097280" cy="731520"/>
          </a:xfrm>
          <a:prstGeom prst="rect">
            <a:avLst/>
          </a:prstGeom>
          <a:noFill/>
          <a:ln/>
        </p:spPr>
        <p:txBody>
          <a:bodyPr wrap="square" lIns="0" tIns="0" rIns="0" bIns="0" rtlCol="0" anchor="ctr"/>
          <a:lstStyle/>
          <a:p>
            <a:pPr marL="0" indent="0">
              <a:buNone/>
            </a:pPr>
            <a:r>
              <a:rPr lang="en-US" sz="4000" b="1" dirty="0">
                <a:solidFill>
                  <a:srgbClr val="E00800"/>
                </a:solidFill>
                <a:latin typeface="Calibri" pitchFamily="34" charset="0"/>
                <a:ea typeface="Calibri" pitchFamily="34" charset="-122"/>
                <a:cs typeface="Calibri" pitchFamily="34" charset="-120"/>
              </a:rPr>
              <a:t>31</a:t>
            </a:r>
            <a:endParaRPr lang="en-US" sz="4000" dirty="0"/>
          </a:p>
        </p:txBody>
      </p:sp>
      <p:sp>
        <p:nvSpPr>
          <p:cNvPr id="18" name="Text 16"/>
          <p:cNvSpPr txBox="1"/>
          <p:nvPr/>
        </p:nvSpPr>
        <p:spPr>
          <a:xfrm>
            <a:off x="1783080" y="4297680"/>
            <a:ext cx="1874520" cy="320040"/>
          </a:xfrm>
          <a:prstGeom prst="rect">
            <a:avLst/>
          </a:prstGeom>
          <a:noFill/>
          <a:ln/>
        </p:spPr>
        <p:txBody>
          <a:bodyPr wrap="square" lIns="0" tIns="0" rIns="0" bIns="0"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Fast but unhappy</a:t>
            </a:r>
            <a:endParaRPr lang="en-US" sz="1500" dirty="0"/>
          </a:p>
        </p:txBody>
      </p:sp>
      <p:sp>
        <p:nvSpPr>
          <p:cNvPr id="19" name="Text 17"/>
          <p:cNvSpPr txBox="1"/>
          <p:nvPr/>
        </p:nvSpPr>
        <p:spPr>
          <a:xfrm>
            <a:off x="1783080" y="4617720"/>
            <a:ext cx="187452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Low CSAT · fast</a:t>
            </a:r>
            <a:endParaRPr lang="en-US" sz="1100" dirty="0"/>
          </a:p>
        </p:txBody>
      </p:sp>
      <p:sp>
        <p:nvSpPr>
          <p:cNvPr id="20" name="Text 18"/>
          <p:cNvSpPr txBox="1"/>
          <p:nvPr/>
        </p:nvSpPr>
        <p:spPr>
          <a:xfrm>
            <a:off x="777240" y="5120640"/>
            <a:ext cx="2834640" cy="640080"/>
          </a:xfrm>
          <a:prstGeom prst="rect">
            <a:avLst/>
          </a:prstGeom>
          <a:noFill/>
          <a:ln/>
        </p:spPr>
        <p:txBody>
          <a:bodyPr wrap="square" lIns="0" tIns="0" rIns="0" bIns="0" rtlCol="0" anchor="t"/>
          <a:lstStyle/>
          <a:p>
            <a:pPr marL="0" indent="0">
              <a:buNone/>
            </a:pPr>
            <a:r>
              <a:rPr lang="en-US" sz="1200" dirty="0">
                <a:solidFill>
                  <a:srgbClr val="3C3C3B"/>
                </a:solidFill>
                <a:latin typeface="Calibri" pitchFamily="34" charset="0"/>
                <a:ea typeface="Calibri" pitchFamily="34" charset="-122"/>
                <a:cs typeface="Calibri" pitchFamily="34" charset="-120"/>
              </a:rPr>
              <a:t>Quality coaching: resolution and knowledge</a:t>
            </a:r>
            <a:endParaRPr lang="en-US" sz="1200" dirty="0"/>
          </a:p>
        </p:txBody>
      </p:sp>
      <p:sp>
        <p:nvSpPr>
          <p:cNvPr id="21" name="Shape 19"/>
          <p:cNvSpPr/>
          <p:nvPr/>
        </p:nvSpPr>
        <p:spPr>
          <a:xfrm>
            <a:off x="3977640" y="4069080"/>
            <a:ext cx="3246120" cy="1874520"/>
          </a:xfrm>
          <a:prstGeom prst="roundRect">
            <a:avLst>
              <a:gd name="adj" fmla="val 3902"/>
            </a:avLst>
          </a:prstGeom>
          <a:solidFill>
            <a:srgbClr val="FBCFCB"/>
          </a:solidFill>
          <a:ln/>
        </p:spPr>
      </p:sp>
      <p:sp>
        <p:nvSpPr>
          <p:cNvPr id="22" name="Text 20"/>
          <p:cNvSpPr txBox="1"/>
          <p:nvPr/>
        </p:nvSpPr>
        <p:spPr>
          <a:xfrm>
            <a:off x="4206240" y="4251960"/>
            <a:ext cx="1097280" cy="731520"/>
          </a:xfrm>
          <a:prstGeom prst="rect">
            <a:avLst/>
          </a:prstGeom>
          <a:noFill/>
          <a:ln/>
        </p:spPr>
        <p:txBody>
          <a:bodyPr wrap="square" lIns="0" tIns="0" rIns="0" bIns="0" rtlCol="0" anchor="ctr"/>
          <a:lstStyle/>
          <a:p>
            <a:pPr marL="0" indent="0">
              <a:buNone/>
            </a:pPr>
            <a:r>
              <a:rPr lang="en-US" sz="4000" b="1" dirty="0">
                <a:solidFill>
                  <a:srgbClr val="E00800"/>
                </a:solidFill>
                <a:latin typeface="Calibri" pitchFamily="34" charset="0"/>
                <a:ea typeface="Calibri" pitchFamily="34" charset="-122"/>
                <a:cs typeface="Calibri" pitchFamily="34" charset="-120"/>
              </a:rPr>
              <a:t>47</a:t>
            </a:r>
            <a:endParaRPr lang="en-US" sz="4000" dirty="0"/>
          </a:p>
        </p:txBody>
      </p:sp>
      <p:sp>
        <p:nvSpPr>
          <p:cNvPr id="23" name="Text 21"/>
          <p:cNvSpPr txBox="1"/>
          <p:nvPr/>
        </p:nvSpPr>
        <p:spPr>
          <a:xfrm>
            <a:off x="5212080" y="4297680"/>
            <a:ext cx="1874520" cy="320040"/>
          </a:xfrm>
          <a:prstGeom prst="rect">
            <a:avLst/>
          </a:prstGeom>
          <a:noFill/>
          <a:ln/>
        </p:spPr>
        <p:txBody>
          <a:bodyPr wrap="square" lIns="0" tIns="0" rIns="0" bIns="0"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Priority coaching</a:t>
            </a:r>
            <a:endParaRPr lang="en-US" sz="1500" dirty="0"/>
          </a:p>
        </p:txBody>
      </p:sp>
      <p:sp>
        <p:nvSpPr>
          <p:cNvPr id="24" name="Text 22"/>
          <p:cNvSpPr txBox="1"/>
          <p:nvPr/>
        </p:nvSpPr>
        <p:spPr>
          <a:xfrm>
            <a:off x="5212080" y="4617720"/>
            <a:ext cx="187452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Low CSAT · slow</a:t>
            </a:r>
            <a:endParaRPr lang="en-US" sz="1100" dirty="0"/>
          </a:p>
        </p:txBody>
      </p:sp>
      <p:sp>
        <p:nvSpPr>
          <p:cNvPr id="25" name="Text 23"/>
          <p:cNvSpPr txBox="1"/>
          <p:nvPr/>
        </p:nvSpPr>
        <p:spPr>
          <a:xfrm>
            <a:off x="4206240" y="5120640"/>
            <a:ext cx="2834640" cy="640080"/>
          </a:xfrm>
          <a:prstGeom prst="rect">
            <a:avLst/>
          </a:prstGeom>
          <a:noFill/>
          <a:ln/>
        </p:spPr>
        <p:txBody>
          <a:bodyPr wrap="square" lIns="0" tIns="0" rIns="0" bIns="0" rtlCol="0" anchor="t"/>
          <a:lstStyle/>
          <a:p>
            <a:pPr marL="0" indent="0">
              <a:buNone/>
            </a:pPr>
            <a:r>
              <a:rPr lang="en-US" sz="1200" dirty="0">
                <a:solidFill>
                  <a:srgbClr val="3C3C3B"/>
                </a:solidFill>
                <a:latin typeface="Calibri" pitchFamily="34" charset="0"/>
                <a:ea typeface="Calibri" pitchFamily="34" charset="-122"/>
                <a:cs typeface="Calibri" pitchFamily="34" charset="-120"/>
              </a:rPr>
              <a:t>Structured plan with weekly TL review</a:t>
            </a:r>
            <a:endParaRPr lang="en-US" sz="1200" dirty="0"/>
          </a:p>
        </p:txBody>
      </p:sp>
      <p:sp>
        <p:nvSpPr>
          <p:cNvPr id="26" name="Text 24"/>
          <p:cNvSpPr txBox="1"/>
          <p:nvPr/>
        </p:nvSpPr>
        <p:spPr>
          <a:xfrm>
            <a:off x="7680960" y="2011680"/>
            <a:ext cx="3962095" cy="731520"/>
          </a:xfrm>
          <a:prstGeom prst="rect">
            <a:avLst/>
          </a:prstGeom>
          <a:noFill/>
          <a:ln/>
        </p:spPr>
        <p:txBody>
          <a:bodyPr wrap="square" lIns="0" tIns="0" rIns="0" bIns="0" rtlCol="0" anchor="ctr"/>
          <a:lstStyle/>
          <a:p>
            <a:pPr marL="0" indent="0">
              <a:buNone/>
            </a:pPr>
            <a:r>
              <a:rPr lang="en-US" sz="4000" b="1" dirty="0">
                <a:solidFill>
                  <a:srgbClr val="1F1F1F"/>
                </a:solidFill>
                <a:latin typeface="Calibri" pitchFamily="34" charset="0"/>
                <a:ea typeface="Calibri" pitchFamily="34" charset="-122"/>
                <a:cs typeface="Calibri" pitchFamily="34" charset="-120"/>
              </a:rPr>
              <a:t>r = −0.12</a:t>
            </a:r>
            <a:endParaRPr lang="en-US" sz="4000" dirty="0"/>
          </a:p>
        </p:txBody>
      </p:sp>
      <p:sp>
        <p:nvSpPr>
          <p:cNvPr id="27" name="Text 25"/>
          <p:cNvSpPr txBox="1"/>
          <p:nvPr/>
        </p:nvSpPr>
        <p:spPr>
          <a:xfrm>
            <a:off x="7680960" y="2743200"/>
            <a:ext cx="3962095" cy="5486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Correlation between agent AHT and CSAT: close to zero, slightly negative</a:t>
            </a:r>
            <a:endParaRPr lang="en-US" sz="1200" dirty="0"/>
          </a:p>
        </p:txBody>
      </p:sp>
      <p:sp>
        <p:nvSpPr>
          <p:cNvPr id="28" name="Text 26"/>
          <p:cNvSpPr txBox="1"/>
          <p:nvPr/>
        </p:nvSpPr>
        <p:spPr>
          <a:xfrm>
            <a:off x="7680960" y="3429000"/>
            <a:ext cx="3962095" cy="274320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F1F1F"/>
                </a:solidFill>
                <a:latin typeface="Calibri" pitchFamily="34" charset="0"/>
                <a:ea typeface="Calibri" pitchFamily="34" charset="-122"/>
                <a:cs typeface="Calibri" pitchFamily="34" charset="-120"/>
              </a:rPr>
              <a:t>Shorter calls do not lower CSAT. </a:t>
            </a:r>
            <a:r>
              <a:rPr lang="en-US" sz="1300" dirty="0">
                <a:solidFill>
                  <a:srgbClr val="1F1F1F"/>
                </a:solidFill>
                <a:latin typeface="Calibri" pitchFamily="34" charset="0"/>
                <a:ea typeface="Calibri" pitchFamily="34" charset="-122"/>
                <a:cs typeface="Calibri" pitchFamily="34" charset="-120"/>
              </a:rPr>
              <a:t>AHT reduction can be pursued without trading off quality.</a:t>
            </a:r>
            <a:endParaRPr lang="en-US" sz="1300" dirty="0"/>
          </a:p>
          <a:p>
            <a:pPr marL="203200" indent="-203200">
              <a:spcAft>
                <a:spcPts val="800"/>
              </a:spcAft>
              <a:buSzPct val="100000"/>
              <a:buChar char="•"/>
            </a:pPr>
            <a:r>
              <a:rPr lang="en-US" sz="1300" b="1" dirty="0">
                <a:solidFill>
                  <a:srgbClr val="1F1F1F"/>
                </a:solidFill>
                <a:latin typeface="Calibri" pitchFamily="34" charset="0"/>
                <a:ea typeface="Calibri" pitchFamily="34" charset="-122"/>
                <a:cs typeface="Calibri" pitchFamily="34" charset="-120"/>
              </a:rPr>
              <a:t>47 agents are in both-red: </a:t>
            </a:r>
            <a:r>
              <a:rPr lang="en-US" sz="1300" dirty="0">
                <a:solidFill>
                  <a:srgbClr val="1F1F1F"/>
                </a:solidFill>
                <a:latin typeface="Calibri" pitchFamily="34" charset="0"/>
                <a:ea typeface="Calibri" pitchFamily="34" charset="-122"/>
                <a:cs typeface="Calibri" pitchFamily="34" charset="-120"/>
              </a:rPr>
              <a:t>the most efficient place to spend coaching hours.</a:t>
            </a:r>
            <a:endParaRPr lang="en-US" sz="1300" dirty="0"/>
          </a:p>
          <a:p>
            <a:pPr marL="203200" indent="-203200">
              <a:spcAft>
                <a:spcPts val="800"/>
              </a:spcAft>
              <a:buSzPct val="100000"/>
              <a:buChar char="•"/>
            </a:pPr>
            <a:r>
              <a:rPr lang="en-US" sz="1300" b="1" dirty="0">
                <a:solidFill>
                  <a:srgbClr val="1F1F1F"/>
                </a:solidFill>
                <a:latin typeface="Calibri" pitchFamily="34" charset="0"/>
                <a:ea typeface="Calibri" pitchFamily="34" charset="-122"/>
                <a:cs typeface="Calibri" pitchFamily="34" charset="-120"/>
              </a:rPr>
              <a:t>The Agent View quadrant updates with every filter, </a:t>
            </a:r>
            <a:r>
              <a:rPr lang="en-US" sz="1300" dirty="0">
                <a:solidFill>
                  <a:srgbClr val="1F1F1F"/>
                </a:solidFill>
                <a:latin typeface="Calibri" pitchFamily="34" charset="0"/>
                <a:ea typeface="Calibri" pitchFamily="34" charset="-122"/>
                <a:cs typeface="Calibri" pitchFamily="34" charset="-120"/>
              </a:rPr>
              <a:t>so each TL can see their own team.</a:t>
            </a:r>
            <a:endParaRPr lang="en-US" sz="1300" dirty="0"/>
          </a:p>
        </p:txBody>
      </p:sp>
      <p:sp>
        <p:nvSpPr>
          <p:cNvPr id="30" name="Text 28"/>
          <p:cNvSpPr txBox="1"/>
          <p:nvPr/>
        </p:nvSpPr>
        <p:spPr>
          <a:xfrm>
            <a:off x="11185855" y="6446520"/>
            <a:ext cx="457200" cy="22860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901952" cy="274320"/>
          </a:xfrm>
          <a:prstGeom prst="roundRect">
            <a:avLst>
              <a:gd name="adj" fmla="val 50000"/>
            </a:avLst>
          </a:prstGeom>
          <a:solidFill>
            <a:srgbClr val="FDE3E1"/>
          </a:solidFill>
          <a:ln/>
        </p:spPr>
      </p:sp>
      <p:sp>
        <p:nvSpPr>
          <p:cNvPr id="3" name="Text 1"/>
          <p:cNvSpPr txBox="1"/>
          <p:nvPr/>
        </p:nvSpPr>
        <p:spPr>
          <a:xfrm>
            <a:off x="548640" y="411480"/>
            <a:ext cx="1901952" cy="274320"/>
          </a:xfrm>
          <a:prstGeom prst="rect">
            <a:avLst/>
          </a:prstGeom>
          <a:noFill/>
          <a:ln/>
        </p:spPr>
        <p:txBody>
          <a:bodyPr wrap="square" lIns="0" tIns="0" rIns="0" bIns="0" rtlCol="0" anchor="ctr"/>
          <a:lstStyle/>
          <a:p>
            <a:pPr marL="0" indent="0" algn="ctr">
              <a:buNone/>
            </a:pPr>
            <a:r>
              <a:rPr lang="en-US" sz="1000" b="1" kern="0" spc="100" dirty="0">
                <a:solidFill>
                  <a:srgbClr val="E00800"/>
                </a:solidFill>
                <a:latin typeface="Calibri" pitchFamily="34" charset="0"/>
                <a:ea typeface="Calibri" pitchFamily="34" charset="-122"/>
                <a:cs typeface="Calibri" pitchFamily="34" charset="-120"/>
              </a:rPr>
              <a:t>DATA QUALITY</a:t>
            </a:r>
            <a:endParaRPr lang="en-US" sz="1000" dirty="0"/>
          </a:p>
        </p:txBody>
      </p:sp>
      <p:sp>
        <p:nvSpPr>
          <p:cNvPr id="4" name="Text 2"/>
          <p:cNvSpPr txBox="1"/>
          <p:nvPr/>
        </p:nvSpPr>
        <p:spPr>
          <a:xfrm>
            <a:off x="548640" y="777240"/>
            <a:ext cx="11094415" cy="685800"/>
          </a:xfrm>
          <a:prstGeom prst="rect">
            <a:avLst/>
          </a:prstGeom>
          <a:noFill/>
          <a:ln/>
        </p:spPr>
        <p:txBody>
          <a:bodyPr wrap="square" lIns="0" tIns="0" rIns="0" bIns="0" rtlCol="0" anchor="t"/>
          <a:lstStyle/>
          <a:p>
            <a:pPr marL="0" indent="0">
              <a:buNone/>
            </a:pPr>
            <a:r>
              <a:rPr lang="en-US" sz="3000" b="1" dirty="0">
                <a:solidFill>
                  <a:srgbClr val="1F1F1F"/>
                </a:solidFill>
                <a:latin typeface="Calibri" pitchFamily="34" charset="0"/>
                <a:ea typeface="Calibri" pitchFamily="34" charset="-122"/>
                <a:cs typeface="Calibri" pitchFamily="34" charset="-120"/>
              </a:rPr>
              <a:t>Anomalies found and how they were handled</a:t>
            </a:r>
            <a:endParaRPr lang="en-US" sz="30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marL="0" indent="0">
              <a:buNone/>
            </a:pPr>
            <a:r>
              <a:rPr lang="en-US" sz="1500" dirty="0">
                <a:solidFill>
                  <a:srgbClr val="6B7280"/>
                </a:solidFill>
                <a:latin typeface="Calibri" pitchFamily="34" charset="0"/>
                <a:ea typeface="Calibri" pitchFamily="34" charset="-122"/>
                <a:cs typeface="Calibri" pitchFamily="34" charset="-120"/>
              </a:rPr>
              <a:t>All counts are produced live by the DQ_Checks query in the workbook</a:t>
            </a:r>
            <a:endParaRPr lang="en-US" sz="1500" dirty="0"/>
          </a:p>
        </p:txBody>
      </p:sp>
      <p:sp>
        <p:nvSpPr>
          <p:cNvPr id="6" name="Shape 4"/>
          <p:cNvSpPr/>
          <p:nvPr/>
        </p:nvSpPr>
        <p:spPr>
          <a:xfrm>
            <a:off x="548640" y="1965960"/>
            <a:ext cx="3576218" cy="1874520"/>
          </a:xfrm>
          <a:prstGeom prst="roundRect">
            <a:avLst>
              <a:gd name="adj" fmla="val 3902"/>
            </a:avLst>
          </a:prstGeom>
          <a:solidFill>
            <a:srgbClr val="FDE3E1"/>
          </a:solidFill>
          <a:ln/>
        </p:spPr>
      </p:sp>
      <p:sp>
        <p:nvSpPr>
          <p:cNvPr id="7" name="Text 5"/>
          <p:cNvSpPr txBox="1"/>
          <p:nvPr/>
        </p:nvSpPr>
        <p:spPr>
          <a:xfrm>
            <a:off x="777240" y="2103120"/>
            <a:ext cx="3119018" cy="548640"/>
          </a:xfrm>
          <a:prstGeom prst="rect">
            <a:avLst/>
          </a:prstGeom>
          <a:noFill/>
          <a:ln/>
        </p:spPr>
        <p:txBody>
          <a:bodyPr wrap="square" lIns="0" tIns="0" rIns="0" bIns="0" rtlCol="0" anchor="ctr"/>
          <a:lstStyle/>
          <a:p>
            <a:pPr marL="0" indent="0">
              <a:buNone/>
            </a:pPr>
            <a:r>
              <a:rPr lang="en-US" sz="3000" b="1" dirty="0">
                <a:solidFill>
                  <a:srgbClr val="E00800"/>
                </a:solidFill>
                <a:latin typeface="Calibri" pitchFamily="34" charset="0"/>
                <a:ea typeface="Calibri" pitchFamily="34" charset="-122"/>
                <a:cs typeface="Calibri" pitchFamily="34" charset="-120"/>
              </a:rPr>
              <a:t>43%</a:t>
            </a:r>
            <a:endParaRPr lang="en-US" sz="3000" dirty="0"/>
          </a:p>
        </p:txBody>
      </p:sp>
      <p:sp>
        <p:nvSpPr>
          <p:cNvPr id="8" name="Text 6"/>
          <p:cNvSpPr txBox="1"/>
          <p:nvPr/>
        </p:nvSpPr>
        <p:spPr>
          <a:xfrm>
            <a:off x="777240" y="2679192"/>
            <a:ext cx="3119018" cy="594360"/>
          </a:xfrm>
          <a:prstGeom prst="rect">
            <a:avLst/>
          </a:prstGeom>
          <a:noFill/>
          <a:ln/>
        </p:spPr>
        <p:txBody>
          <a:bodyPr wrap="square" lIns="0" tIns="0" rIns="0" bIns="0" rtlCol="0" anchor="t"/>
          <a:lstStyle/>
          <a:p>
            <a:pPr marL="0" indent="0">
              <a:buNone/>
            </a:pPr>
            <a:r>
              <a:rPr lang="en-US" sz="1200" dirty="0">
                <a:solidFill>
                  <a:srgbClr val="1F1F1F"/>
                </a:solidFill>
                <a:latin typeface="Calibri" pitchFamily="34" charset="0"/>
                <a:ea typeface="Calibri" pitchFamily="34" charset="-122"/>
                <a:cs typeface="Calibri" pitchFamily="34" charset="-120"/>
              </a:rPr>
              <a:t>of answered calls come from agents not on that month's Active List</a:t>
            </a:r>
            <a:endParaRPr lang="en-US" sz="1200" dirty="0"/>
          </a:p>
        </p:txBody>
      </p:sp>
      <p:sp>
        <p:nvSpPr>
          <p:cNvPr id="9" name="Text 7"/>
          <p:cNvSpPr txBox="1"/>
          <p:nvPr/>
        </p:nvSpPr>
        <p:spPr>
          <a:xfrm>
            <a:off x="777240" y="3291840"/>
            <a:ext cx="3119018" cy="457200"/>
          </a:xfrm>
          <a:prstGeom prst="rect">
            <a:avLst/>
          </a:prstGeom>
          <a:noFill/>
          <a:ln/>
        </p:spPr>
        <p:txBody>
          <a:bodyPr wrap="square" lIns="0" tIns="0" rIns="0" bIns="0" rtlCol="0" anchor="t"/>
          <a:lstStyle/>
          <a:p>
            <a:pPr marL="0" indent="0">
              <a:buNone/>
            </a:pPr>
            <a:r>
              <a:rPr lang="en-US" sz="1100" i="1" dirty="0">
                <a:solidFill>
                  <a:srgbClr val="6B7280"/>
                </a:solidFill>
                <a:latin typeface="Calibri" pitchFamily="34" charset="0"/>
                <a:ea typeface="Calibri" pitchFamily="34" charset="-122"/>
                <a:cs typeface="Calibri" pitchFamily="34" charset="-120"/>
              </a:rPr>
              <a:t>Excluded from account KPIs; roster completeness needs confirming</a:t>
            </a:r>
            <a:endParaRPr lang="en-US" sz="1100" dirty="0"/>
          </a:p>
        </p:txBody>
      </p:sp>
      <p:sp>
        <p:nvSpPr>
          <p:cNvPr id="10" name="Shape 8"/>
          <p:cNvSpPr/>
          <p:nvPr/>
        </p:nvSpPr>
        <p:spPr>
          <a:xfrm>
            <a:off x="4307738" y="1965960"/>
            <a:ext cx="3576218" cy="1874520"/>
          </a:xfrm>
          <a:prstGeom prst="roundRect">
            <a:avLst>
              <a:gd name="adj" fmla="val 3902"/>
            </a:avLst>
          </a:prstGeom>
          <a:solidFill>
            <a:srgbClr val="F4F5F7"/>
          </a:solidFill>
          <a:ln/>
        </p:spPr>
      </p:sp>
      <p:sp>
        <p:nvSpPr>
          <p:cNvPr id="11" name="Text 9"/>
          <p:cNvSpPr txBox="1"/>
          <p:nvPr/>
        </p:nvSpPr>
        <p:spPr>
          <a:xfrm>
            <a:off x="4536338" y="2103120"/>
            <a:ext cx="3119018" cy="548640"/>
          </a:xfrm>
          <a:prstGeom prst="rect">
            <a:avLst/>
          </a:prstGeom>
          <a:noFill/>
          <a:ln/>
        </p:spPr>
        <p:txBody>
          <a:bodyPr wrap="square" lIns="0" tIns="0" rIns="0" bIns="0" rtlCol="0" anchor="ctr"/>
          <a:lstStyle/>
          <a:p>
            <a:pPr marL="0" indent="0">
              <a:buNone/>
            </a:pPr>
            <a:r>
              <a:rPr lang="en-US" sz="3000" b="1" dirty="0">
                <a:solidFill>
                  <a:srgbClr val="1F1F1F"/>
                </a:solidFill>
                <a:latin typeface="Calibri" pitchFamily="34" charset="0"/>
                <a:ea typeface="Calibri" pitchFamily="34" charset="-122"/>
                <a:cs typeface="Calibri" pitchFamily="34" charset="-120"/>
              </a:rPr>
              <a:t>48</a:t>
            </a:r>
            <a:endParaRPr lang="en-US" sz="3000" dirty="0"/>
          </a:p>
        </p:txBody>
      </p:sp>
      <p:sp>
        <p:nvSpPr>
          <p:cNvPr id="12" name="Text 10"/>
          <p:cNvSpPr txBox="1"/>
          <p:nvPr/>
        </p:nvSpPr>
        <p:spPr>
          <a:xfrm>
            <a:off x="4536338" y="2679192"/>
            <a:ext cx="3119018" cy="594360"/>
          </a:xfrm>
          <a:prstGeom prst="rect">
            <a:avLst/>
          </a:prstGeom>
          <a:noFill/>
          <a:ln/>
        </p:spPr>
        <p:txBody>
          <a:bodyPr wrap="square" lIns="0" tIns="0" rIns="0" bIns="0" rtlCol="0" anchor="t"/>
          <a:lstStyle/>
          <a:p>
            <a:pPr marL="0" indent="0">
              <a:buNone/>
            </a:pPr>
            <a:r>
              <a:rPr lang="en-US" sz="1200" dirty="0">
                <a:solidFill>
                  <a:srgbClr val="1F1F1F"/>
                </a:solidFill>
                <a:latin typeface="Calibri" pitchFamily="34" charset="0"/>
                <a:ea typeface="Calibri" pitchFamily="34" charset="-122"/>
                <a:cs typeface="Calibri" pitchFamily="34" charset="-120"/>
              </a:rPr>
              <a:t>duplicate roster rows (14 exact, 34 conflicting TL/LOB)</a:t>
            </a:r>
            <a:endParaRPr lang="en-US" sz="1200" dirty="0"/>
          </a:p>
        </p:txBody>
      </p:sp>
      <p:sp>
        <p:nvSpPr>
          <p:cNvPr id="13" name="Text 11"/>
          <p:cNvSpPr txBox="1"/>
          <p:nvPr/>
        </p:nvSpPr>
        <p:spPr>
          <a:xfrm>
            <a:off x="4536338" y="3291840"/>
            <a:ext cx="3119018" cy="457200"/>
          </a:xfrm>
          <a:prstGeom prst="rect">
            <a:avLst/>
          </a:prstGeom>
          <a:noFill/>
          <a:ln/>
        </p:spPr>
        <p:txBody>
          <a:bodyPr wrap="square" lIns="0" tIns="0" rIns="0" bIns="0" rtlCol="0" anchor="t"/>
          <a:lstStyle/>
          <a:p>
            <a:pPr marL="0" indent="0">
              <a:buNone/>
            </a:pPr>
            <a:r>
              <a:rPr lang="en-US" sz="1100" i="1" dirty="0">
                <a:solidFill>
                  <a:srgbClr val="6B7280"/>
                </a:solidFill>
                <a:latin typeface="Calibri" pitchFamily="34" charset="0"/>
                <a:ea typeface="Calibri" pitchFamily="34" charset="-122"/>
                <a:cs typeface="Calibri" pitchFamily="34" charset="-120"/>
              </a:rPr>
              <a:t>One row per agent per month kept</a:t>
            </a:r>
            <a:endParaRPr lang="en-US" sz="1100" dirty="0"/>
          </a:p>
        </p:txBody>
      </p:sp>
      <p:sp>
        <p:nvSpPr>
          <p:cNvPr id="14" name="Shape 12"/>
          <p:cNvSpPr/>
          <p:nvPr/>
        </p:nvSpPr>
        <p:spPr>
          <a:xfrm>
            <a:off x="8066837" y="1965960"/>
            <a:ext cx="3576218" cy="1874520"/>
          </a:xfrm>
          <a:prstGeom prst="roundRect">
            <a:avLst>
              <a:gd name="adj" fmla="val 3902"/>
            </a:avLst>
          </a:prstGeom>
          <a:solidFill>
            <a:srgbClr val="F4F5F7"/>
          </a:solidFill>
          <a:ln/>
        </p:spPr>
      </p:sp>
      <p:sp>
        <p:nvSpPr>
          <p:cNvPr id="15" name="Text 13"/>
          <p:cNvSpPr txBox="1"/>
          <p:nvPr/>
        </p:nvSpPr>
        <p:spPr>
          <a:xfrm>
            <a:off x="8295437" y="2103120"/>
            <a:ext cx="3119018" cy="548640"/>
          </a:xfrm>
          <a:prstGeom prst="rect">
            <a:avLst/>
          </a:prstGeom>
          <a:noFill/>
          <a:ln/>
        </p:spPr>
        <p:txBody>
          <a:bodyPr wrap="square" lIns="0" tIns="0" rIns="0" bIns="0" rtlCol="0" anchor="ctr"/>
          <a:lstStyle/>
          <a:p>
            <a:pPr marL="0" indent="0">
              <a:buNone/>
            </a:pPr>
            <a:r>
              <a:rPr lang="en-US" sz="3000" b="1" dirty="0">
                <a:solidFill>
                  <a:srgbClr val="1F1F1F"/>
                </a:solidFill>
                <a:latin typeface="Calibri" pitchFamily="34" charset="0"/>
                <a:ea typeface="Calibri" pitchFamily="34" charset="-122"/>
                <a:cs typeface="Calibri" pitchFamily="34" charset="-120"/>
              </a:rPr>
              <a:t>1</a:t>
            </a:r>
            <a:endParaRPr lang="en-US" sz="3000" dirty="0"/>
          </a:p>
        </p:txBody>
      </p:sp>
      <p:sp>
        <p:nvSpPr>
          <p:cNvPr id="16" name="Text 14"/>
          <p:cNvSpPr txBox="1"/>
          <p:nvPr/>
        </p:nvSpPr>
        <p:spPr>
          <a:xfrm>
            <a:off x="8295437" y="2679192"/>
            <a:ext cx="3119018" cy="594360"/>
          </a:xfrm>
          <a:prstGeom prst="rect">
            <a:avLst/>
          </a:prstGeom>
          <a:noFill/>
          <a:ln/>
        </p:spPr>
        <p:txBody>
          <a:bodyPr wrap="square" lIns="0" tIns="0" rIns="0" bIns="0" rtlCol="0" anchor="t"/>
          <a:lstStyle/>
          <a:p>
            <a:pPr marL="0" indent="0">
              <a:buNone/>
            </a:pPr>
            <a:r>
              <a:rPr lang="en-US" sz="1200" dirty="0">
                <a:solidFill>
                  <a:srgbClr val="1F1F1F"/>
                </a:solidFill>
                <a:latin typeface="Calibri" pitchFamily="34" charset="0"/>
                <a:ea typeface="Calibri" pitchFamily="34" charset="-122"/>
                <a:cs typeface="Calibri" pitchFamily="34" charset="-120"/>
              </a:rPr>
              <a:t>#N/A Team Leader cell in the Active List</a:t>
            </a:r>
            <a:endParaRPr lang="en-US" sz="1200" dirty="0"/>
          </a:p>
        </p:txBody>
      </p:sp>
      <p:sp>
        <p:nvSpPr>
          <p:cNvPr id="17" name="Text 15"/>
          <p:cNvSpPr txBox="1"/>
          <p:nvPr/>
        </p:nvSpPr>
        <p:spPr>
          <a:xfrm>
            <a:off x="8295437" y="3291840"/>
            <a:ext cx="3119018" cy="457200"/>
          </a:xfrm>
          <a:prstGeom prst="rect">
            <a:avLst/>
          </a:prstGeom>
          <a:noFill/>
          <a:ln/>
        </p:spPr>
        <p:txBody>
          <a:bodyPr wrap="square" lIns="0" tIns="0" rIns="0" bIns="0" rtlCol="0" anchor="t"/>
          <a:lstStyle/>
          <a:p>
            <a:pPr marL="0" indent="0">
              <a:buNone/>
            </a:pPr>
            <a:r>
              <a:rPr lang="en-US" sz="1100" i="1" dirty="0">
                <a:solidFill>
                  <a:srgbClr val="6B7280"/>
                </a:solidFill>
                <a:latin typeface="Calibri" pitchFamily="34" charset="0"/>
                <a:ea typeface="Calibri" pitchFamily="34" charset="-122"/>
                <a:cs typeface="Calibri" pitchFamily="34" charset="-120"/>
              </a:rPr>
              <a:t>Replaced errors with null → 'Unassigned'</a:t>
            </a:r>
            <a:endParaRPr lang="en-US" sz="1100" dirty="0"/>
          </a:p>
        </p:txBody>
      </p:sp>
      <p:sp>
        <p:nvSpPr>
          <p:cNvPr id="18" name="Shape 16"/>
          <p:cNvSpPr/>
          <p:nvPr/>
        </p:nvSpPr>
        <p:spPr>
          <a:xfrm>
            <a:off x="548640" y="4023360"/>
            <a:ext cx="3576218" cy="1874520"/>
          </a:xfrm>
          <a:prstGeom prst="roundRect">
            <a:avLst>
              <a:gd name="adj" fmla="val 3902"/>
            </a:avLst>
          </a:prstGeom>
          <a:solidFill>
            <a:srgbClr val="F4F5F7"/>
          </a:solidFill>
          <a:ln/>
        </p:spPr>
      </p:sp>
      <p:sp>
        <p:nvSpPr>
          <p:cNvPr id="19" name="Text 17"/>
          <p:cNvSpPr txBox="1"/>
          <p:nvPr/>
        </p:nvSpPr>
        <p:spPr>
          <a:xfrm>
            <a:off x="777240" y="4160520"/>
            <a:ext cx="3119018" cy="548640"/>
          </a:xfrm>
          <a:prstGeom prst="rect">
            <a:avLst/>
          </a:prstGeom>
          <a:noFill/>
          <a:ln/>
        </p:spPr>
        <p:txBody>
          <a:bodyPr wrap="square" lIns="0" tIns="0" rIns="0" bIns="0" rtlCol="0" anchor="ctr"/>
          <a:lstStyle/>
          <a:p>
            <a:pPr marL="0" indent="0">
              <a:buNone/>
            </a:pPr>
            <a:r>
              <a:rPr lang="en-US" sz="3000" b="1" dirty="0">
                <a:solidFill>
                  <a:srgbClr val="1F1F1F"/>
                </a:solidFill>
                <a:latin typeface="Calibri" pitchFamily="34" charset="0"/>
                <a:ea typeface="Calibri" pitchFamily="34" charset="-122"/>
                <a:cs typeface="Calibri" pitchFamily="34" charset="-120"/>
              </a:rPr>
              <a:t>115</a:t>
            </a:r>
            <a:endParaRPr lang="en-US" sz="3000" dirty="0"/>
          </a:p>
        </p:txBody>
      </p:sp>
      <p:sp>
        <p:nvSpPr>
          <p:cNvPr id="20" name="Text 18"/>
          <p:cNvSpPr txBox="1"/>
          <p:nvPr/>
        </p:nvSpPr>
        <p:spPr>
          <a:xfrm>
            <a:off x="777240" y="4736592"/>
            <a:ext cx="3119018" cy="594360"/>
          </a:xfrm>
          <a:prstGeom prst="rect">
            <a:avLst/>
          </a:prstGeom>
          <a:noFill/>
          <a:ln/>
        </p:spPr>
        <p:txBody>
          <a:bodyPr wrap="square" lIns="0" tIns="0" rIns="0" bIns="0" rtlCol="0" anchor="t"/>
          <a:lstStyle/>
          <a:p>
            <a:pPr marL="0" indent="0">
              <a:buNone/>
            </a:pPr>
            <a:r>
              <a:rPr lang="en-US" sz="1200" dirty="0">
                <a:solidFill>
                  <a:srgbClr val="1F1F1F"/>
                </a:solidFill>
                <a:latin typeface="Calibri" pitchFamily="34" charset="0"/>
                <a:ea typeface="Calibri" pitchFamily="34" charset="-122"/>
                <a:cs typeface="Calibri" pitchFamily="34" charset="-120"/>
              </a:rPr>
              <a:t>productivity rows with &gt;16h staffed or available time in one day</a:t>
            </a:r>
            <a:endParaRPr lang="en-US" sz="1200" dirty="0"/>
          </a:p>
        </p:txBody>
      </p:sp>
      <p:sp>
        <p:nvSpPr>
          <p:cNvPr id="21" name="Text 19"/>
          <p:cNvSpPr txBox="1"/>
          <p:nvPr/>
        </p:nvSpPr>
        <p:spPr>
          <a:xfrm>
            <a:off x="777240" y="5349240"/>
            <a:ext cx="3119018" cy="457200"/>
          </a:xfrm>
          <a:prstGeom prst="rect">
            <a:avLst/>
          </a:prstGeom>
          <a:noFill/>
          <a:ln/>
        </p:spPr>
        <p:txBody>
          <a:bodyPr wrap="square" lIns="0" tIns="0" rIns="0" bIns="0" rtlCol="0" anchor="t"/>
          <a:lstStyle/>
          <a:p>
            <a:pPr marL="0" indent="0">
              <a:buNone/>
            </a:pPr>
            <a:r>
              <a:rPr lang="en-US" sz="1100" i="1" dirty="0">
                <a:solidFill>
                  <a:srgbClr val="6B7280"/>
                </a:solidFill>
                <a:latin typeface="Calibri" pitchFamily="34" charset="0"/>
                <a:ea typeface="Calibri" pitchFamily="34" charset="-122"/>
                <a:cs typeface="Calibri" pitchFamily="34" charset="-120"/>
              </a:rPr>
              <a:t>Flagged; excluded from Occupancy only</a:t>
            </a:r>
            <a:endParaRPr lang="en-US" sz="1100" dirty="0"/>
          </a:p>
        </p:txBody>
      </p:sp>
      <p:sp>
        <p:nvSpPr>
          <p:cNvPr id="22" name="Shape 20"/>
          <p:cNvSpPr/>
          <p:nvPr/>
        </p:nvSpPr>
        <p:spPr>
          <a:xfrm>
            <a:off x="4307738" y="4023360"/>
            <a:ext cx="3576218" cy="1874520"/>
          </a:xfrm>
          <a:prstGeom prst="roundRect">
            <a:avLst>
              <a:gd name="adj" fmla="val 3902"/>
            </a:avLst>
          </a:prstGeom>
          <a:solidFill>
            <a:srgbClr val="F4F5F7"/>
          </a:solidFill>
          <a:ln/>
        </p:spPr>
      </p:sp>
      <p:sp>
        <p:nvSpPr>
          <p:cNvPr id="23" name="Text 21"/>
          <p:cNvSpPr txBox="1"/>
          <p:nvPr/>
        </p:nvSpPr>
        <p:spPr>
          <a:xfrm>
            <a:off x="4536338" y="4160520"/>
            <a:ext cx="3119018" cy="548640"/>
          </a:xfrm>
          <a:prstGeom prst="rect">
            <a:avLst/>
          </a:prstGeom>
          <a:noFill/>
          <a:ln/>
        </p:spPr>
        <p:txBody>
          <a:bodyPr wrap="square" lIns="0" tIns="0" rIns="0" bIns="0" rtlCol="0" anchor="ctr"/>
          <a:lstStyle/>
          <a:p>
            <a:pPr marL="0" indent="0">
              <a:buNone/>
            </a:pPr>
            <a:r>
              <a:rPr lang="en-US" sz="3000" b="1" dirty="0">
                <a:solidFill>
                  <a:srgbClr val="1F1F1F"/>
                </a:solidFill>
                <a:latin typeface="Calibri" pitchFamily="34" charset="0"/>
                <a:ea typeface="Calibri" pitchFamily="34" charset="-122"/>
                <a:cs typeface="Calibri" pitchFamily="34" charset="-120"/>
              </a:rPr>
              <a:t>26</a:t>
            </a:r>
            <a:endParaRPr lang="en-US" sz="3000" dirty="0"/>
          </a:p>
        </p:txBody>
      </p:sp>
      <p:sp>
        <p:nvSpPr>
          <p:cNvPr id="24" name="Text 22"/>
          <p:cNvSpPr txBox="1"/>
          <p:nvPr/>
        </p:nvSpPr>
        <p:spPr>
          <a:xfrm>
            <a:off x="4536338" y="4736592"/>
            <a:ext cx="3119018" cy="594360"/>
          </a:xfrm>
          <a:prstGeom prst="rect">
            <a:avLst/>
          </a:prstGeom>
          <a:noFill/>
          <a:ln/>
        </p:spPr>
        <p:txBody>
          <a:bodyPr wrap="square" lIns="0" tIns="0" rIns="0" bIns="0" rtlCol="0" anchor="t"/>
          <a:lstStyle/>
          <a:p>
            <a:pPr marL="0" indent="0">
              <a:buNone/>
            </a:pPr>
            <a:r>
              <a:rPr lang="en-US" sz="1200" dirty="0">
                <a:solidFill>
                  <a:srgbClr val="1F1F1F"/>
                </a:solidFill>
                <a:latin typeface="Calibri" pitchFamily="34" charset="0"/>
                <a:ea typeface="Calibri" pitchFamily="34" charset="-122"/>
                <a:cs typeface="Calibri" pitchFamily="34" charset="-120"/>
              </a:rPr>
              <a:t>negative outgoing-call counters</a:t>
            </a:r>
            <a:endParaRPr lang="en-US" sz="1200" dirty="0"/>
          </a:p>
        </p:txBody>
      </p:sp>
      <p:sp>
        <p:nvSpPr>
          <p:cNvPr id="25" name="Text 23"/>
          <p:cNvSpPr txBox="1"/>
          <p:nvPr/>
        </p:nvSpPr>
        <p:spPr>
          <a:xfrm>
            <a:off x="4536338" y="5349240"/>
            <a:ext cx="3119018" cy="457200"/>
          </a:xfrm>
          <a:prstGeom prst="rect">
            <a:avLst/>
          </a:prstGeom>
          <a:noFill/>
          <a:ln/>
        </p:spPr>
        <p:txBody>
          <a:bodyPr wrap="square" lIns="0" tIns="0" rIns="0" bIns="0" rtlCol="0" anchor="t"/>
          <a:lstStyle/>
          <a:p>
            <a:pPr marL="0" indent="0">
              <a:buNone/>
            </a:pPr>
            <a:r>
              <a:rPr lang="en-US" sz="1100" i="1" dirty="0">
                <a:solidFill>
                  <a:srgbClr val="6B7280"/>
                </a:solidFill>
                <a:latin typeface="Calibri" pitchFamily="34" charset="0"/>
                <a:ea typeface="Calibri" pitchFamily="34" charset="-122"/>
                <a:cs typeface="Calibri" pitchFamily="34" charset="-120"/>
              </a:rPr>
              <a:t>Set to 0</a:t>
            </a:r>
            <a:endParaRPr lang="en-US" sz="1100" dirty="0"/>
          </a:p>
        </p:txBody>
      </p:sp>
      <p:sp>
        <p:nvSpPr>
          <p:cNvPr id="26" name="Shape 24"/>
          <p:cNvSpPr/>
          <p:nvPr/>
        </p:nvSpPr>
        <p:spPr>
          <a:xfrm>
            <a:off x="8066837" y="4023360"/>
            <a:ext cx="3576218" cy="1874520"/>
          </a:xfrm>
          <a:prstGeom prst="roundRect">
            <a:avLst>
              <a:gd name="adj" fmla="val 3902"/>
            </a:avLst>
          </a:prstGeom>
          <a:solidFill>
            <a:srgbClr val="F4F5F7"/>
          </a:solidFill>
          <a:ln/>
        </p:spPr>
      </p:sp>
      <p:sp>
        <p:nvSpPr>
          <p:cNvPr id="27" name="Text 25"/>
          <p:cNvSpPr txBox="1"/>
          <p:nvPr/>
        </p:nvSpPr>
        <p:spPr>
          <a:xfrm>
            <a:off x="8295437" y="4160520"/>
            <a:ext cx="3119018" cy="548640"/>
          </a:xfrm>
          <a:prstGeom prst="rect">
            <a:avLst/>
          </a:prstGeom>
          <a:noFill/>
          <a:ln/>
        </p:spPr>
        <p:txBody>
          <a:bodyPr wrap="square" lIns="0" tIns="0" rIns="0" bIns="0" rtlCol="0" anchor="ctr"/>
          <a:lstStyle/>
          <a:p>
            <a:pPr marL="0" indent="0">
              <a:buNone/>
            </a:pPr>
            <a:r>
              <a:rPr lang="en-US" sz="3000" b="1" dirty="0">
                <a:solidFill>
                  <a:srgbClr val="1F1F1F"/>
                </a:solidFill>
                <a:latin typeface="Calibri" pitchFamily="34" charset="0"/>
                <a:ea typeface="Calibri" pitchFamily="34" charset="-122"/>
                <a:cs typeface="Calibri" pitchFamily="34" charset="-120"/>
              </a:rPr>
              <a:t>5.8k</a:t>
            </a:r>
            <a:endParaRPr lang="en-US" sz="3000" dirty="0"/>
          </a:p>
        </p:txBody>
      </p:sp>
      <p:sp>
        <p:nvSpPr>
          <p:cNvPr id="28" name="Text 26"/>
          <p:cNvSpPr txBox="1"/>
          <p:nvPr/>
        </p:nvSpPr>
        <p:spPr>
          <a:xfrm>
            <a:off x="8295437" y="4736592"/>
            <a:ext cx="3119018" cy="594360"/>
          </a:xfrm>
          <a:prstGeom prst="rect">
            <a:avLst/>
          </a:prstGeom>
          <a:noFill/>
          <a:ln/>
        </p:spPr>
        <p:txBody>
          <a:bodyPr wrap="square" lIns="0" tIns="0" rIns="0" bIns="0" rtlCol="0" anchor="t"/>
          <a:lstStyle/>
          <a:p>
            <a:pPr marL="0" indent="0">
              <a:buNone/>
            </a:pPr>
            <a:r>
              <a:rPr lang="en-US" sz="1200" dirty="0">
                <a:solidFill>
                  <a:srgbClr val="1F1F1F"/>
                </a:solidFill>
                <a:latin typeface="Calibri" pitchFamily="34" charset="0"/>
                <a:ea typeface="Calibri" pitchFamily="34" charset="-122"/>
                <a:cs typeface="Calibri" pitchFamily="34" charset="-120"/>
              </a:rPr>
              <a:t>surveys without Courtesy/Knowledge sub-scores ([n/a] or blank)</a:t>
            </a:r>
            <a:endParaRPr lang="en-US" sz="1200" dirty="0"/>
          </a:p>
        </p:txBody>
      </p:sp>
      <p:sp>
        <p:nvSpPr>
          <p:cNvPr id="29" name="Text 27"/>
          <p:cNvSpPr txBox="1"/>
          <p:nvPr/>
        </p:nvSpPr>
        <p:spPr>
          <a:xfrm>
            <a:off x="8295437" y="5349240"/>
            <a:ext cx="3119018" cy="457200"/>
          </a:xfrm>
          <a:prstGeom prst="rect">
            <a:avLst/>
          </a:prstGeom>
          <a:noFill/>
          <a:ln/>
        </p:spPr>
        <p:txBody>
          <a:bodyPr wrap="square" lIns="0" tIns="0" rIns="0" bIns="0" rtlCol="0" anchor="t"/>
          <a:lstStyle/>
          <a:p>
            <a:pPr marL="0" indent="0">
              <a:buNone/>
            </a:pPr>
            <a:r>
              <a:rPr lang="en-US" sz="1100" i="1" dirty="0">
                <a:solidFill>
                  <a:srgbClr val="6B7280"/>
                </a:solidFill>
                <a:latin typeface="Calibri" pitchFamily="34" charset="0"/>
                <a:ea typeface="Calibri" pitchFamily="34" charset="-122"/>
                <a:cs typeface="Calibri" pitchFamily="34" charset="-120"/>
              </a:rPr>
              <a:t>Null, not 0, so sub-score averages stay unbiased</a:t>
            </a:r>
            <a:endParaRPr lang="en-US" sz="1100" dirty="0"/>
          </a:p>
        </p:txBody>
      </p:sp>
      <p:sp>
        <p:nvSpPr>
          <p:cNvPr id="31" name="Text 29"/>
          <p:cNvSpPr txBox="1"/>
          <p:nvPr/>
        </p:nvSpPr>
        <p:spPr>
          <a:xfrm>
            <a:off x="11185855" y="6446520"/>
            <a:ext cx="457200" cy="22860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414"/>
        </a:solidFill>
        <a:effectLst/>
      </p:bgPr>
    </p:bg>
    <p:spTree>
      <p:nvGrpSpPr>
        <p:cNvPr id="1" name=""/>
        <p:cNvGrpSpPr/>
        <p:nvPr/>
      </p:nvGrpSpPr>
      <p:grpSpPr>
        <a:xfrm>
          <a:off x="0" y="0"/>
          <a:ext cx="0" cy="0"/>
          <a:chOff x="0" y="0"/>
          <a:chExt cx="0" cy="0"/>
        </a:xfrm>
      </p:grpSpPr>
      <p:sp>
        <p:nvSpPr>
          <p:cNvPr id="2" name="Shape 0"/>
          <p:cNvSpPr/>
          <p:nvPr/>
        </p:nvSpPr>
        <p:spPr>
          <a:xfrm>
            <a:off x="548640" y="411480"/>
            <a:ext cx="2286000" cy="274320"/>
          </a:xfrm>
          <a:prstGeom prst="roundRect">
            <a:avLst>
              <a:gd name="adj" fmla="val 50000"/>
            </a:avLst>
          </a:prstGeom>
          <a:solidFill>
            <a:srgbClr val="E00800"/>
          </a:solidFill>
          <a:ln/>
        </p:spPr>
      </p:sp>
      <p:sp>
        <p:nvSpPr>
          <p:cNvPr id="3" name="Text 1"/>
          <p:cNvSpPr txBox="1"/>
          <p:nvPr/>
        </p:nvSpPr>
        <p:spPr>
          <a:xfrm>
            <a:off x="548640" y="411480"/>
            <a:ext cx="2286000" cy="27432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RECOMMENDATIONS</a:t>
            </a:r>
            <a:endParaRPr lang="en-US" sz="1000" dirty="0"/>
          </a:p>
        </p:txBody>
      </p:sp>
      <p:sp>
        <p:nvSpPr>
          <p:cNvPr id="4" name="Text 2"/>
          <p:cNvSpPr txBox="1"/>
          <p:nvPr/>
        </p:nvSpPr>
        <p:spPr>
          <a:xfrm>
            <a:off x="548640" y="777240"/>
            <a:ext cx="11094415" cy="685800"/>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Five actions for the next 90 days</a:t>
            </a:r>
            <a:endParaRPr lang="en-US" sz="3000" dirty="0"/>
          </a:p>
        </p:txBody>
      </p:sp>
      <p:sp>
        <p:nvSpPr>
          <p:cNvPr id="5" name="Shape 3"/>
          <p:cNvSpPr/>
          <p:nvPr/>
        </p:nvSpPr>
        <p:spPr>
          <a:xfrm>
            <a:off x="548640" y="1764792"/>
            <a:ext cx="502920" cy="502920"/>
          </a:xfrm>
          <a:prstGeom prst="ellipse">
            <a:avLst/>
          </a:prstGeom>
          <a:solidFill>
            <a:srgbClr val="E00800"/>
          </a:solidFill>
          <a:ln/>
        </p:spPr>
      </p:sp>
      <p:sp>
        <p:nvSpPr>
          <p:cNvPr id="6" name="Text 4"/>
          <p:cNvSpPr txBox="1"/>
          <p:nvPr/>
        </p:nvSpPr>
        <p:spPr>
          <a:xfrm>
            <a:off x="548640" y="176479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280160" y="1691640"/>
            <a:ext cx="6583680" cy="347472"/>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Cut hold time in Supervisor 3's teams</a:t>
            </a:r>
            <a:endParaRPr lang="en-US" sz="1700" dirty="0"/>
          </a:p>
        </p:txBody>
      </p:sp>
      <p:sp>
        <p:nvSpPr>
          <p:cNvPr id="8" name="Text 6"/>
          <p:cNvSpPr txBox="1"/>
          <p:nvPr/>
        </p:nvSpPr>
        <p:spPr>
          <a:xfrm>
            <a:off x="1280160" y="2039112"/>
            <a:ext cx="6766560" cy="411480"/>
          </a:xfrm>
          <a:prstGeom prst="rect">
            <a:avLst/>
          </a:prstGeom>
          <a:noFill/>
          <a:ln/>
        </p:spPr>
        <p:txBody>
          <a:bodyPr wrap="square" lIns="0" tIns="0" rIns="0" bIns="0" rtlCol="0" anchor="t"/>
          <a:lstStyle/>
          <a:p>
            <a:pPr marL="0" indent="0">
              <a:buNone/>
            </a:pPr>
            <a:r>
              <a:rPr lang="en-US" sz="1200" dirty="0">
                <a:solidFill>
                  <a:srgbClr val="D1D5DB"/>
                </a:solidFill>
                <a:latin typeface="Calibri" pitchFamily="34" charset="0"/>
                <a:ea typeface="Calibri" pitchFamily="34" charset="-122"/>
                <a:cs typeface="Calibri" pitchFamily="34" charset="-120"/>
              </a:rPr>
              <a:t>Knowledge-base refresh and floor support for TL 10, 12, 13, 15, 18</a:t>
            </a:r>
            <a:endParaRPr lang="en-US" sz="1200" dirty="0"/>
          </a:p>
        </p:txBody>
      </p:sp>
      <p:sp>
        <p:nvSpPr>
          <p:cNvPr id="9" name="Shape 7"/>
          <p:cNvSpPr/>
          <p:nvPr/>
        </p:nvSpPr>
        <p:spPr>
          <a:xfrm>
            <a:off x="8412480" y="1783080"/>
            <a:ext cx="3230575" cy="502920"/>
          </a:xfrm>
          <a:prstGeom prst="roundRect">
            <a:avLst>
              <a:gd name="adj" fmla="val 18182"/>
            </a:avLst>
          </a:prstGeom>
          <a:solidFill>
            <a:srgbClr val="2B2B2B"/>
          </a:solidFill>
          <a:ln/>
        </p:spPr>
      </p:sp>
      <p:sp>
        <p:nvSpPr>
          <p:cNvPr id="10" name="Text 8"/>
          <p:cNvSpPr txBox="1"/>
          <p:nvPr/>
        </p:nvSpPr>
        <p:spPr>
          <a:xfrm>
            <a:off x="8549640" y="1783080"/>
            <a:ext cx="3001975" cy="5029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Hold 71s → 25s  ·  ~1,970 hrs / qtr</a:t>
            </a:r>
            <a:endParaRPr lang="en-US" sz="1200" dirty="0"/>
          </a:p>
        </p:txBody>
      </p:sp>
      <p:sp>
        <p:nvSpPr>
          <p:cNvPr id="11" name="Shape 9"/>
          <p:cNvSpPr/>
          <p:nvPr/>
        </p:nvSpPr>
        <p:spPr>
          <a:xfrm>
            <a:off x="548640" y="2660904"/>
            <a:ext cx="502920" cy="502920"/>
          </a:xfrm>
          <a:prstGeom prst="ellipse">
            <a:avLst/>
          </a:prstGeom>
          <a:solidFill>
            <a:srgbClr val="E00800"/>
          </a:solidFill>
          <a:ln/>
        </p:spPr>
      </p:sp>
      <p:sp>
        <p:nvSpPr>
          <p:cNvPr id="12" name="Text 10"/>
          <p:cNvSpPr txBox="1"/>
          <p:nvPr/>
        </p:nvSpPr>
        <p:spPr>
          <a:xfrm>
            <a:off x="548640" y="2660904"/>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1280160" y="2587752"/>
            <a:ext cx="6583680" cy="347472"/>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Attack the 1-scores</a:t>
            </a:r>
            <a:endParaRPr lang="en-US" sz="1700" dirty="0"/>
          </a:p>
        </p:txBody>
      </p:sp>
      <p:sp>
        <p:nvSpPr>
          <p:cNvPr id="14" name="Text 12"/>
          <p:cNvSpPr txBox="1"/>
          <p:nvPr/>
        </p:nvSpPr>
        <p:spPr>
          <a:xfrm>
            <a:off x="1280160" y="2935224"/>
            <a:ext cx="6766560" cy="411480"/>
          </a:xfrm>
          <a:prstGeom prst="rect">
            <a:avLst/>
          </a:prstGeom>
          <a:noFill/>
          <a:ln/>
        </p:spPr>
        <p:txBody>
          <a:bodyPr wrap="square" lIns="0" tIns="0" rIns="0" bIns="0" rtlCol="0" anchor="t"/>
          <a:lstStyle/>
          <a:p>
            <a:pPr marL="0" indent="0">
              <a:buNone/>
            </a:pPr>
            <a:r>
              <a:rPr lang="en-US" sz="1200" dirty="0">
                <a:solidFill>
                  <a:srgbClr val="D1D5DB"/>
                </a:solidFill>
                <a:latin typeface="Calibri" pitchFamily="34" charset="0"/>
                <a:ea typeface="Calibri" pitchFamily="34" charset="-122"/>
                <a:cs typeface="Calibri" pitchFamily="34" charset="-120"/>
              </a:rPr>
              <a:t>Daily DSAT callback list and root-cause tagging, starting with the top 20% of DSAT agents</a:t>
            </a:r>
            <a:endParaRPr lang="en-US" sz="1200" dirty="0"/>
          </a:p>
        </p:txBody>
      </p:sp>
      <p:sp>
        <p:nvSpPr>
          <p:cNvPr id="15" name="Shape 13"/>
          <p:cNvSpPr/>
          <p:nvPr/>
        </p:nvSpPr>
        <p:spPr>
          <a:xfrm>
            <a:off x="8412480" y="2679192"/>
            <a:ext cx="3230575" cy="502920"/>
          </a:xfrm>
          <a:prstGeom prst="roundRect">
            <a:avLst>
              <a:gd name="adj" fmla="val 18182"/>
            </a:avLst>
          </a:prstGeom>
          <a:solidFill>
            <a:srgbClr val="2B2B2B"/>
          </a:solidFill>
          <a:ln/>
        </p:spPr>
      </p:sp>
      <p:sp>
        <p:nvSpPr>
          <p:cNvPr id="16" name="Text 14"/>
          <p:cNvSpPr txBox="1"/>
          <p:nvPr/>
        </p:nvSpPr>
        <p:spPr>
          <a:xfrm>
            <a:off x="8549640" y="2679192"/>
            <a:ext cx="3001975" cy="5029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DSAT 20.8% → 15%</a:t>
            </a:r>
            <a:endParaRPr lang="en-US" sz="1200" dirty="0"/>
          </a:p>
        </p:txBody>
      </p:sp>
      <p:sp>
        <p:nvSpPr>
          <p:cNvPr id="17" name="Shape 15"/>
          <p:cNvSpPr/>
          <p:nvPr/>
        </p:nvSpPr>
        <p:spPr>
          <a:xfrm>
            <a:off x="548640" y="3557016"/>
            <a:ext cx="502920" cy="502920"/>
          </a:xfrm>
          <a:prstGeom prst="ellipse">
            <a:avLst/>
          </a:prstGeom>
          <a:solidFill>
            <a:srgbClr val="E00800"/>
          </a:solidFill>
          <a:ln/>
        </p:spPr>
      </p:sp>
      <p:sp>
        <p:nvSpPr>
          <p:cNvPr id="18" name="Text 16"/>
          <p:cNvSpPr txBox="1"/>
          <p:nvPr/>
        </p:nvSpPr>
        <p:spPr>
          <a:xfrm>
            <a:off x="548640" y="3557016"/>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1280160" y="3483864"/>
            <a:ext cx="6583680" cy="347472"/>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Product-knowledge refreshers</a:t>
            </a:r>
            <a:endParaRPr lang="en-US" sz="1700" dirty="0"/>
          </a:p>
        </p:txBody>
      </p:sp>
      <p:sp>
        <p:nvSpPr>
          <p:cNvPr id="20" name="Text 18"/>
          <p:cNvSpPr txBox="1"/>
          <p:nvPr/>
        </p:nvSpPr>
        <p:spPr>
          <a:xfrm>
            <a:off x="1280160" y="3831336"/>
            <a:ext cx="6766560" cy="411480"/>
          </a:xfrm>
          <a:prstGeom prst="rect">
            <a:avLst/>
          </a:prstGeom>
          <a:noFill/>
          <a:ln/>
        </p:spPr>
        <p:txBody>
          <a:bodyPr wrap="square" lIns="0" tIns="0" rIns="0" bIns="0" rtlCol="0" anchor="t"/>
          <a:lstStyle/>
          <a:p>
            <a:pPr marL="0" indent="0">
              <a:buNone/>
            </a:pPr>
            <a:r>
              <a:rPr lang="en-US" sz="1200" dirty="0">
                <a:solidFill>
                  <a:srgbClr val="D1D5DB"/>
                </a:solidFill>
                <a:latin typeface="Calibri" pitchFamily="34" charset="0"/>
                <a:ea typeface="Calibri" pitchFamily="34" charset="-122"/>
                <a:cs typeface="Calibri" pitchFamily="34" charset="-120"/>
              </a:rPr>
              <a:t>Close the 0.35 gap between knowledge and courtesy scores</a:t>
            </a:r>
            <a:endParaRPr lang="en-US" sz="1200" dirty="0"/>
          </a:p>
        </p:txBody>
      </p:sp>
      <p:sp>
        <p:nvSpPr>
          <p:cNvPr id="21" name="Shape 19"/>
          <p:cNvSpPr/>
          <p:nvPr/>
        </p:nvSpPr>
        <p:spPr>
          <a:xfrm>
            <a:off x="8412480" y="3575304"/>
            <a:ext cx="3230575" cy="502920"/>
          </a:xfrm>
          <a:prstGeom prst="roundRect">
            <a:avLst>
              <a:gd name="adj" fmla="val 18182"/>
            </a:avLst>
          </a:prstGeom>
          <a:solidFill>
            <a:srgbClr val="2B2B2B"/>
          </a:solidFill>
          <a:ln/>
        </p:spPr>
      </p:sp>
      <p:sp>
        <p:nvSpPr>
          <p:cNvPr id="22" name="Text 20"/>
          <p:cNvSpPr txBox="1"/>
          <p:nvPr/>
        </p:nvSpPr>
        <p:spPr>
          <a:xfrm>
            <a:off x="8549640" y="3575304"/>
            <a:ext cx="3001975" cy="5029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Knowledge 4.05 → 4.30</a:t>
            </a:r>
            <a:endParaRPr lang="en-US" sz="1200" dirty="0"/>
          </a:p>
        </p:txBody>
      </p:sp>
      <p:sp>
        <p:nvSpPr>
          <p:cNvPr id="23" name="Shape 21"/>
          <p:cNvSpPr/>
          <p:nvPr/>
        </p:nvSpPr>
        <p:spPr>
          <a:xfrm>
            <a:off x="548640" y="4453128"/>
            <a:ext cx="502920" cy="502920"/>
          </a:xfrm>
          <a:prstGeom prst="ellipse">
            <a:avLst/>
          </a:prstGeom>
          <a:solidFill>
            <a:srgbClr val="E00800"/>
          </a:solidFill>
          <a:ln/>
        </p:spPr>
      </p:sp>
      <p:sp>
        <p:nvSpPr>
          <p:cNvPr id="24" name="Text 22"/>
          <p:cNvSpPr txBox="1"/>
          <p:nvPr/>
        </p:nvSpPr>
        <p:spPr>
          <a:xfrm>
            <a:off x="548640" y="445312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txBox="1"/>
          <p:nvPr/>
        </p:nvSpPr>
        <p:spPr>
          <a:xfrm>
            <a:off x="1280160" y="4379976"/>
            <a:ext cx="6583680" cy="347472"/>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Coach by quadrant</a:t>
            </a:r>
            <a:endParaRPr lang="en-US" sz="1700" dirty="0"/>
          </a:p>
        </p:txBody>
      </p:sp>
      <p:sp>
        <p:nvSpPr>
          <p:cNvPr id="26" name="Text 24"/>
          <p:cNvSpPr txBox="1"/>
          <p:nvPr/>
        </p:nvSpPr>
        <p:spPr>
          <a:xfrm>
            <a:off x="1280160" y="4727448"/>
            <a:ext cx="6766560" cy="411480"/>
          </a:xfrm>
          <a:prstGeom prst="rect">
            <a:avLst/>
          </a:prstGeom>
          <a:noFill/>
          <a:ln/>
        </p:spPr>
        <p:txBody>
          <a:bodyPr wrap="square" lIns="0" tIns="0" rIns="0" bIns="0" rtlCol="0" anchor="t"/>
          <a:lstStyle/>
          <a:p>
            <a:pPr marL="0" indent="0">
              <a:buNone/>
            </a:pPr>
            <a:r>
              <a:rPr lang="en-US" sz="1200" dirty="0">
                <a:solidFill>
                  <a:srgbClr val="D1D5DB"/>
                </a:solidFill>
                <a:latin typeface="Calibri" pitchFamily="34" charset="0"/>
                <a:ea typeface="Calibri" pitchFamily="34" charset="-122"/>
                <a:cs typeface="Calibri" pitchFamily="34" charset="-120"/>
              </a:rPr>
              <a:t>Pair 45 role models with the 47 priority agents; weekly TL scorecards from Agent View</a:t>
            </a:r>
            <a:endParaRPr lang="en-US" sz="1200" dirty="0"/>
          </a:p>
        </p:txBody>
      </p:sp>
      <p:sp>
        <p:nvSpPr>
          <p:cNvPr id="27" name="Shape 25"/>
          <p:cNvSpPr/>
          <p:nvPr/>
        </p:nvSpPr>
        <p:spPr>
          <a:xfrm>
            <a:off x="8412480" y="4471416"/>
            <a:ext cx="3230575" cy="502920"/>
          </a:xfrm>
          <a:prstGeom prst="roundRect">
            <a:avLst>
              <a:gd name="adj" fmla="val 18182"/>
            </a:avLst>
          </a:prstGeom>
          <a:solidFill>
            <a:srgbClr val="2B2B2B"/>
          </a:solidFill>
          <a:ln/>
        </p:spPr>
      </p:sp>
      <p:sp>
        <p:nvSpPr>
          <p:cNvPr id="28" name="Text 26"/>
          <p:cNvSpPr txBox="1"/>
          <p:nvPr/>
        </p:nvSpPr>
        <p:spPr>
          <a:xfrm>
            <a:off x="8549640" y="4471416"/>
            <a:ext cx="3001975" cy="5029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AHT back to ≤ 450s</a:t>
            </a:r>
            <a:endParaRPr lang="en-US" sz="1200" dirty="0"/>
          </a:p>
        </p:txBody>
      </p:sp>
      <p:sp>
        <p:nvSpPr>
          <p:cNvPr id="29" name="Shape 27"/>
          <p:cNvSpPr/>
          <p:nvPr/>
        </p:nvSpPr>
        <p:spPr>
          <a:xfrm>
            <a:off x="548640" y="5349240"/>
            <a:ext cx="502920" cy="502920"/>
          </a:xfrm>
          <a:prstGeom prst="ellipse">
            <a:avLst/>
          </a:prstGeom>
          <a:solidFill>
            <a:srgbClr val="E00800"/>
          </a:solidFill>
          <a:ln/>
        </p:spPr>
      </p:sp>
      <p:sp>
        <p:nvSpPr>
          <p:cNvPr id="30" name="Text 28"/>
          <p:cNvSpPr txBox="1"/>
          <p:nvPr/>
        </p:nvSpPr>
        <p:spPr>
          <a:xfrm>
            <a:off x="548640" y="53492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Text 29"/>
          <p:cNvSpPr txBox="1"/>
          <p:nvPr/>
        </p:nvSpPr>
        <p:spPr>
          <a:xfrm>
            <a:off x="1280160" y="5276088"/>
            <a:ext cx="6583680" cy="347472"/>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Fix the data foundation</a:t>
            </a:r>
            <a:endParaRPr lang="en-US" sz="1700" dirty="0"/>
          </a:p>
        </p:txBody>
      </p:sp>
      <p:sp>
        <p:nvSpPr>
          <p:cNvPr id="32" name="Text 30"/>
          <p:cNvSpPr txBox="1"/>
          <p:nvPr/>
        </p:nvSpPr>
        <p:spPr>
          <a:xfrm>
            <a:off x="1280160" y="5623560"/>
            <a:ext cx="6766560" cy="411480"/>
          </a:xfrm>
          <a:prstGeom prst="rect">
            <a:avLst/>
          </a:prstGeom>
          <a:noFill/>
          <a:ln/>
        </p:spPr>
        <p:txBody>
          <a:bodyPr wrap="square" lIns="0" tIns="0" rIns="0" bIns="0" rtlCol="0" anchor="t"/>
          <a:lstStyle/>
          <a:p>
            <a:pPr marL="0" indent="0">
              <a:buNone/>
            </a:pPr>
            <a:r>
              <a:rPr lang="en-US" sz="1200" dirty="0">
                <a:solidFill>
                  <a:srgbClr val="D1D5DB"/>
                </a:solidFill>
                <a:latin typeface="Calibri" pitchFamily="34" charset="0"/>
                <a:ea typeface="Calibri" pitchFamily="34" charset="-122"/>
                <a:cs typeface="Calibri" pitchFamily="34" charset="-120"/>
              </a:rPr>
              <a:t>Confirm roster completeness (43% of calls unmatched); one row per agent per month; keep sub-score comments</a:t>
            </a:r>
            <a:endParaRPr lang="en-US" sz="1200" dirty="0"/>
          </a:p>
        </p:txBody>
      </p:sp>
      <p:sp>
        <p:nvSpPr>
          <p:cNvPr id="33" name="Shape 31"/>
          <p:cNvSpPr/>
          <p:nvPr/>
        </p:nvSpPr>
        <p:spPr>
          <a:xfrm>
            <a:off x="8412480" y="5367528"/>
            <a:ext cx="3230575" cy="502920"/>
          </a:xfrm>
          <a:prstGeom prst="roundRect">
            <a:avLst>
              <a:gd name="adj" fmla="val 18182"/>
            </a:avLst>
          </a:prstGeom>
          <a:solidFill>
            <a:srgbClr val="2B2B2B"/>
          </a:solidFill>
          <a:ln/>
        </p:spPr>
      </p:sp>
      <p:sp>
        <p:nvSpPr>
          <p:cNvPr id="34" name="Text 32"/>
          <p:cNvSpPr txBox="1"/>
          <p:nvPr/>
        </p:nvSpPr>
        <p:spPr>
          <a:xfrm>
            <a:off x="8549640" y="5367528"/>
            <a:ext cx="3001975" cy="5029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100% of calls mapped</a:t>
            </a:r>
            <a:endParaRPr lang="en-US" sz="1200" dirty="0"/>
          </a:p>
        </p:txBody>
      </p:sp>
      <p:sp>
        <p:nvSpPr>
          <p:cNvPr id="36" name="Text 34"/>
          <p:cNvSpPr txBox="1"/>
          <p:nvPr/>
        </p:nvSpPr>
        <p:spPr>
          <a:xfrm>
            <a:off x="11185855" y="6446520"/>
            <a:ext cx="457200" cy="22860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2082</Words>
  <Application>Microsoft Office PowerPoint</Application>
  <PresentationFormat>Widescreen</PresentationFormat>
  <Paragraphs>270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CSAT &amp; Productivity Review - e&amp; Inbound (May-Jul 2021)</dc:title>
  <dc:subject>PptxGenJS Presentation</dc:subject>
  <dc:creator>Omar Moussa</dc:creator>
  <cp:lastModifiedBy>Omar Moussa</cp:lastModifiedBy>
  <cp:revision>3</cp:revision>
  <dcterms:created xsi:type="dcterms:W3CDTF">2026-09-29T16:09:31Z</dcterms:created>
  <dcterms:modified xsi:type="dcterms:W3CDTF">2026-10-04T13:23:42Z</dcterms:modified>
</cp:coreProperties>
</file>